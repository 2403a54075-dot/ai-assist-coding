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x="12192000" cy="6858000"/>
  <p:notesSz cx="6858000" cy="9144000"/>
  <p:embeddedFontLst>
    <p:embeddedFont>
      <p:font typeface="210 8비트" charset="1" panose="02020503020101020101"/>
      <p:regular r:id="rId27"/>
    </p:embeddedFont>
    <p:embeddedFont>
      <p:font typeface="20db" charset="1" panose="02000507020000020004"/>
      <p:regular r:id="rId28"/>
    </p:embeddedFont>
    <p:embeddedFont>
      <p:font typeface="Open Sans Bold" charset="1" panose="020B0806030504020204"/>
      <p:regular r:id="rId29"/>
    </p:embeddedFont>
    <p:embeddedFont>
      <p:font typeface="Open Sans" charset="1" panose="020B0606030504020204"/>
      <p:regular r:id="rId3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1.png" Type="http://schemas.openxmlformats.org/officeDocument/2006/relationships/image"/><Relationship Id="rId4" Target="../media/image2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2.svg" Type="http://schemas.openxmlformats.org/officeDocument/2006/relationships/image"/><Relationship Id="rId11" Target="../media/image13.png" Type="http://schemas.openxmlformats.org/officeDocument/2006/relationships/image"/><Relationship Id="rId12" Target="../media/image14.svg" Type="http://schemas.openxmlformats.org/officeDocument/2006/relationships/image"/><Relationship Id="rId13" Target="../media/image15.png" Type="http://schemas.openxmlformats.org/officeDocument/2006/relationships/image"/><Relationship Id="rId14" Target="../media/image16.svg" Type="http://schemas.openxmlformats.org/officeDocument/2006/relationships/image"/><Relationship Id="rId15" Target="../media/image17.png" Type="http://schemas.openxmlformats.org/officeDocument/2006/relationships/image"/><Relationship Id="rId16" Target="../media/image18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6.jpe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Relationship Id="rId7" Target="../media/image9.png" Type="http://schemas.openxmlformats.org/officeDocument/2006/relationships/image"/><Relationship Id="rId8" Target="../media/image10.svg" Type="http://schemas.openxmlformats.org/officeDocument/2006/relationships/image"/><Relationship Id="rId9" Target="../media/image1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4.png" Type="http://schemas.openxmlformats.org/officeDocument/2006/relationships/image"/><Relationship Id="rId11" Target="../media/image25.svg" Type="http://schemas.openxmlformats.org/officeDocument/2006/relationships/image"/><Relationship Id="rId12" Target="../media/image26.png" Type="http://schemas.openxmlformats.org/officeDocument/2006/relationships/image"/><Relationship Id="rId13" Target="../media/image27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6.jpeg" Type="http://schemas.openxmlformats.org/officeDocument/2006/relationships/image"/><Relationship Id="rId5" Target="../media/image19.png" Type="http://schemas.openxmlformats.org/officeDocument/2006/relationships/image"/><Relationship Id="rId6" Target="../media/image20.svg" Type="http://schemas.openxmlformats.org/officeDocument/2006/relationships/image"/><Relationship Id="rId7" Target="../media/image21.jpeg" Type="http://schemas.openxmlformats.org/officeDocument/2006/relationships/image"/><Relationship Id="rId8" Target="../media/image22.png" Type="http://schemas.openxmlformats.org/officeDocument/2006/relationships/image"/><Relationship Id="rId9" Target="../media/image23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1.png" Type="http://schemas.openxmlformats.org/officeDocument/2006/relationships/image"/><Relationship Id="rId4" Target="../media/image2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3.svg" Type="http://schemas.openxmlformats.org/officeDocument/2006/relationships/image"/><Relationship Id="rId11" Target="../media/image34.png" Type="http://schemas.openxmlformats.org/officeDocument/2006/relationships/image"/><Relationship Id="rId12" Target="../media/image35.svg" Type="http://schemas.openxmlformats.org/officeDocument/2006/relationships/image"/><Relationship Id="rId13" Target="../media/image36.png" Type="http://schemas.openxmlformats.org/officeDocument/2006/relationships/image"/><Relationship Id="rId14" Target="../media/image37.svg" Type="http://schemas.openxmlformats.org/officeDocument/2006/relationships/image"/><Relationship Id="rId15" Target="../media/image38.png" Type="http://schemas.openxmlformats.org/officeDocument/2006/relationships/image"/><Relationship Id="rId16" Target="../media/image39.svg" Type="http://schemas.openxmlformats.org/officeDocument/2006/relationships/image"/><Relationship Id="rId17" Target="../media/image40.png" Type="http://schemas.openxmlformats.org/officeDocument/2006/relationships/image"/><Relationship Id="rId18" Target="../media/image41.svg" Type="http://schemas.openxmlformats.org/officeDocument/2006/relationships/image"/><Relationship Id="rId19" Target="../media/image42.png" Type="http://schemas.openxmlformats.org/officeDocument/2006/relationships/image"/><Relationship Id="rId2" Target="../media/image1.png" Type="http://schemas.openxmlformats.org/officeDocument/2006/relationships/image"/><Relationship Id="rId20" Target="../media/image43.svg" Type="http://schemas.openxmlformats.org/officeDocument/2006/relationships/image"/><Relationship Id="rId21" Target="../media/image44.png" Type="http://schemas.openxmlformats.org/officeDocument/2006/relationships/image"/><Relationship Id="rId22" Target="../media/image45.svg" Type="http://schemas.openxmlformats.org/officeDocument/2006/relationships/image"/><Relationship Id="rId3" Target="../media/image2.svg" Type="http://schemas.openxmlformats.org/officeDocument/2006/relationships/image"/><Relationship Id="rId4" Target="../media/image6.jpeg" Type="http://schemas.openxmlformats.org/officeDocument/2006/relationships/image"/><Relationship Id="rId5" Target="../media/image28.png" Type="http://schemas.openxmlformats.org/officeDocument/2006/relationships/image"/><Relationship Id="rId6" Target="../media/image29.svg" Type="http://schemas.openxmlformats.org/officeDocument/2006/relationships/image"/><Relationship Id="rId7" Target="../media/image30.png" Type="http://schemas.openxmlformats.org/officeDocument/2006/relationships/image"/><Relationship Id="rId8" Target="../media/image31.svg" Type="http://schemas.openxmlformats.org/officeDocument/2006/relationships/image"/><Relationship Id="rId9" Target="../media/image32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1.svg" Type="http://schemas.openxmlformats.org/officeDocument/2006/relationships/image"/><Relationship Id="rId11" Target="../media/image52.svg" Type="http://schemas.openxmlformats.org/officeDocument/2006/relationships/image"/><Relationship Id="rId12" Target="../media/image53.png" Type="http://schemas.openxmlformats.org/officeDocument/2006/relationships/image"/><Relationship Id="rId13" Target="../media/image54.svg" Type="http://schemas.openxmlformats.org/officeDocument/2006/relationships/image"/><Relationship Id="rId14" Target="../media/image55.png" Type="http://schemas.openxmlformats.org/officeDocument/2006/relationships/image"/><Relationship Id="rId15" Target="../media/image56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6.jpeg" Type="http://schemas.openxmlformats.org/officeDocument/2006/relationships/image"/><Relationship Id="rId5" Target="../media/image46.png" Type="http://schemas.openxmlformats.org/officeDocument/2006/relationships/image"/><Relationship Id="rId6" Target="../media/image47.svg" Type="http://schemas.openxmlformats.org/officeDocument/2006/relationships/image"/><Relationship Id="rId7" Target="../media/image48.png" Type="http://schemas.openxmlformats.org/officeDocument/2006/relationships/image"/><Relationship Id="rId8" Target="../media/image49.svg" Type="http://schemas.openxmlformats.org/officeDocument/2006/relationships/image"/><Relationship Id="rId9" Target="../media/image50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2.svg" Type="http://schemas.openxmlformats.org/officeDocument/2006/relationships/image"/><Relationship Id="rId11" Target="../media/image63.jpe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6.jpeg" Type="http://schemas.openxmlformats.org/officeDocument/2006/relationships/image"/><Relationship Id="rId5" Target="../media/image57.png" Type="http://schemas.openxmlformats.org/officeDocument/2006/relationships/image"/><Relationship Id="rId6" Target="../media/image58.svg" Type="http://schemas.openxmlformats.org/officeDocument/2006/relationships/image"/><Relationship Id="rId7" Target="../media/image59.png" Type="http://schemas.openxmlformats.org/officeDocument/2006/relationships/image"/><Relationship Id="rId8" Target="../media/image60.svg" Type="http://schemas.openxmlformats.org/officeDocument/2006/relationships/image"/><Relationship Id="rId9" Target="../media/image61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1.png" Type="http://schemas.openxmlformats.org/officeDocument/2006/relationships/image"/><Relationship Id="rId4" Target="../media/image2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6.jpeg" Type="http://schemas.openxmlformats.org/officeDocument/2006/relationships/image"/><Relationship Id="rId5" Target="../media/image64.png" Type="http://schemas.openxmlformats.org/officeDocument/2006/relationships/image"/><Relationship Id="rId6" Target="../media/image65.svg" Type="http://schemas.openxmlformats.org/officeDocument/2006/relationships/image"/><Relationship Id="rId7" Target="../media/image66.png" Type="http://schemas.openxmlformats.org/officeDocument/2006/relationships/image"/><Relationship Id="rId8" Target="../media/image67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3.svg" Type="http://schemas.openxmlformats.org/officeDocument/2006/relationships/image"/><Relationship Id="rId11" Target="../media/image74.png" Type="http://schemas.openxmlformats.org/officeDocument/2006/relationships/image"/><Relationship Id="rId12" Target="../media/image75.svg" Type="http://schemas.openxmlformats.org/officeDocument/2006/relationships/image"/><Relationship Id="rId13" Target="../media/image76.png" Type="http://schemas.openxmlformats.org/officeDocument/2006/relationships/image"/><Relationship Id="rId14" Target="../media/image77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6.jpeg" Type="http://schemas.openxmlformats.org/officeDocument/2006/relationships/image"/><Relationship Id="rId5" Target="../media/image68.png" Type="http://schemas.openxmlformats.org/officeDocument/2006/relationships/image"/><Relationship Id="rId6" Target="../media/image69.svg" Type="http://schemas.openxmlformats.org/officeDocument/2006/relationships/image"/><Relationship Id="rId7" Target="../media/image70.png" Type="http://schemas.openxmlformats.org/officeDocument/2006/relationships/image"/><Relationship Id="rId8" Target="../media/image71.svg" Type="http://schemas.openxmlformats.org/officeDocument/2006/relationships/image"/><Relationship Id="rId9" Target="../media/image72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1.png" Type="http://schemas.openxmlformats.org/officeDocument/2006/relationships/image"/><Relationship Id="rId4" Target="../media/image2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3.png" Type="http://schemas.openxmlformats.org/officeDocument/2006/relationships/image"/><Relationship Id="rId11" Target="../media/image84.svg" Type="http://schemas.openxmlformats.org/officeDocument/2006/relationships/image"/><Relationship Id="rId12" Target="../media/image85.png" Type="http://schemas.openxmlformats.org/officeDocument/2006/relationships/image"/><Relationship Id="rId13" Target="../media/image86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6.jpeg" Type="http://schemas.openxmlformats.org/officeDocument/2006/relationships/image"/><Relationship Id="rId5" Target="../media/image78.jpeg" Type="http://schemas.openxmlformats.org/officeDocument/2006/relationships/image"/><Relationship Id="rId6" Target="../media/image79.png" Type="http://schemas.openxmlformats.org/officeDocument/2006/relationships/image"/><Relationship Id="rId7" Target="../media/image80.svg" Type="http://schemas.openxmlformats.org/officeDocument/2006/relationships/image"/><Relationship Id="rId8" Target="../media/image81.png" Type="http://schemas.openxmlformats.org/officeDocument/2006/relationships/image"/><Relationship Id="rId9" Target="../media/image82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2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6.jpeg" Type="http://schemas.openxmlformats.org/officeDocument/2006/relationships/image"/><Relationship Id="rId5" Target="../media/image87.png" Type="http://schemas.openxmlformats.org/officeDocument/2006/relationships/image"/><Relationship Id="rId6" Target="../media/image88.svg" Type="http://schemas.openxmlformats.org/officeDocument/2006/relationships/image"/><Relationship Id="rId7" Target="../media/image89.png" Type="http://schemas.openxmlformats.org/officeDocument/2006/relationships/image"/><Relationship Id="rId8" Target="../media/image90.svg" Type="http://schemas.openxmlformats.org/officeDocument/2006/relationships/image"/><Relationship Id="rId9" Target="../media/image91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1.png" Type="http://schemas.openxmlformats.org/officeDocument/2006/relationships/image"/><Relationship Id="rId4" Target="../media/image2.sv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8.svg" Type="http://schemas.openxmlformats.org/officeDocument/2006/relationships/image"/><Relationship Id="rId11" Target="../media/image99.jpe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6.jpeg" Type="http://schemas.openxmlformats.org/officeDocument/2006/relationships/image"/><Relationship Id="rId5" Target="../media/image93.png" Type="http://schemas.openxmlformats.org/officeDocument/2006/relationships/image"/><Relationship Id="rId6" Target="../media/image94.svg" Type="http://schemas.openxmlformats.org/officeDocument/2006/relationships/image"/><Relationship Id="rId7" Target="../media/image95.png" Type="http://schemas.openxmlformats.org/officeDocument/2006/relationships/image"/><Relationship Id="rId8" Target="../media/image96.svg" Type="http://schemas.openxmlformats.org/officeDocument/2006/relationships/image"/><Relationship Id="rId9" Target="../media/image97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5.svg" Type="http://schemas.openxmlformats.org/officeDocument/2006/relationships/image"/><Relationship Id="rId11" Target="../media/image106.png" Type="http://schemas.openxmlformats.org/officeDocument/2006/relationships/image"/><Relationship Id="rId12" Target="../media/image107.svg" Type="http://schemas.openxmlformats.org/officeDocument/2006/relationships/image"/><Relationship Id="rId13" Target="../media/image108.png" Type="http://schemas.openxmlformats.org/officeDocument/2006/relationships/image"/><Relationship Id="rId14" Target="../media/image109.svg" Type="http://schemas.openxmlformats.org/officeDocument/2006/relationships/image"/><Relationship Id="rId15" Target="../media/image110.png" Type="http://schemas.openxmlformats.org/officeDocument/2006/relationships/image"/><Relationship Id="rId16" Target="../media/image111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6.jpeg" Type="http://schemas.openxmlformats.org/officeDocument/2006/relationships/image"/><Relationship Id="rId5" Target="../media/image100.png" Type="http://schemas.openxmlformats.org/officeDocument/2006/relationships/image"/><Relationship Id="rId6" Target="../media/image101.svg" Type="http://schemas.openxmlformats.org/officeDocument/2006/relationships/image"/><Relationship Id="rId7" Target="../media/image102.png" Type="http://schemas.openxmlformats.org/officeDocument/2006/relationships/image"/><Relationship Id="rId8" Target="../media/image103.svg" Type="http://schemas.openxmlformats.org/officeDocument/2006/relationships/image"/><Relationship Id="rId9" Target="../media/image104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1.png" Type="http://schemas.openxmlformats.org/officeDocument/2006/relationships/image"/><Relationship Id="rId4" Target="../media/image2.sv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7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6.jpeg" Type="http://schemas.openxmlformats.org/officeDocument/2006/relationships/image"/><Relationship Id="rId5" Target="../media/image112.png" Type="http://schemas.openxmlformats.org/officeDocument/2006/relationships/image"/><Relationship Id="rId6" Target="../media/image113.svg" Type="http://schemas.openxmlformats.org/officeDocument/2006/relationships/image"/><Relationship Id="rId7" Target="../media/image114.png" Type="http://schemas.openxmlformats.org/officeDocument/2006/relationships/image"/><Relationship Id="rId8" Target="../media/image115.svg" Type="http://schemas.openxmlformats.org/officeDocument/2006/relationships/image"/><Relationship Id="rId9" Target="../media/image116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1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772650" y="1200150"/>
            <a:ext cx="2419350" cy="4305300"/>
          </a:xfrm>
          <a:custGeom>
            <a:avLst/>
            <a:gdLst/>
            <a:ahLst/>
            <a:cxnLst/>
            <a:rect r="r" b="b" t="t" l="l"/>
            <a:pathLst>
              <a:path h="4305300" w="2419350">
                <a:moveTo>
                  <a:pt x="0" y="0"/>
                </a:moveTo>
                <a:lnTo>
                  <a:pt x="2419350" y="0"/>
                </a:lnTo>
                <a:lnTo>
                  <a:pt x="2419350" y="4305300"/>
                </a:lnTo>
                <a:lnTo>
                  <a:pt x="0" y="4305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1133475"/>
            <a:ext cx="12192000" cy="5724525"/>
          </a:xfrm>
          <a:custGeom>
            <a:avLst/>
            <a:gdLst/>
            <a:ahLst/>
            <a:cxnLst/>
            <a:rect r="r" b="b" t="t" l="l"/>
            <a:pathLst>
              <a:path h="5724525" w="12192000">
                <a:moveTo>
                  <a:pt x="0" y="0"/>
                </a:moveTo>
                <a:lnTo>
                  <a:pt x="12192000" y="0"/>
                </a:lnTo>
                <a:lnTo>
                  <a:pt x="12192000" y="5724525"/>
                </a:lnTo>
                <a:lnTo>
                  <a:pt x="0" y="57245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368553" y="1917059"/>
            <a:ext cx="7814196" cy="979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38"/>
              </a:lnSpc>
            </a:pPr>
            <a:r>
              <a:rPr lang="en-US" sz="5407">
                <a:solidFill>
                  <a:srgbClr val="FFFFFF"/>
                </a:solidFill>
                <a:latin typeface="210 8비트"/>
                <a:ea typeface="210 8비트"/>
                <a:cs typeface="210 8비트"/>
                <a:sym typeface="210 8비트"/>
              </a:rPr>
              <a:t>AI-Powered Stroke Risk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732401" y="2899791"/>
            <a:ext cx="2786539" cy="979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38"/>
              </a:lnSpc>
            </a:pPr>
            <a:r>
              <a:rPr lang="en-US" sz="5407">
                <a:solidFill>
                  <a:srgbClr val="FFFFFF"/>
                </a:solidFill>
                <a:latin typeface="210 8비트"/>
                <a:ea typeface="210 8비트"/>
                <a:cs typeface="210 8비트"/>
                <a:sym typeface="210 8비트"/>
              </a:rPr>
              <a:t>Forecast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C10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162425" y="0"/>
            <a:ext cx="8029575" cy="6858000"/>
          </a:xfrm>
          <a:custGeom>
            <a:avLst/>
            <a:gdLst/>
            <a:ahLst/>
            <a:cxnLst/>
            <a:rect r="r" b="b" t="t" l="l"/>
            <a:pathLst>
              <a:path h="6858000" w="8029575">
                <a:moveTo>
                  <a:pt x="0" y="0"/>
                </a:moveTo>
                <a:lnTo>
                  <a:pt x="8029575" y="0"/>
                </a:lnTo>
                <a:lnTo>
                  <a:pt x="8029575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>
            <a:grpSpLocks noChangeAspect="true"/>
          </p:cNvGrpSpPr>
          <p:nvPr/>
        </p:nvGrpSpPr>
        <p:grpSpPr>
          <a:xfrm rot="0">
            <a:off x="1057275" y="2133600"/>
            <a:ext cx="352425" cy="361950"/>
            <a:chOff x="0" y="0"/>
            <a:chExt cx="352425" cy="36195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52425" cy="361950"/>
            </a:xfrm>
            <a:custGeom>
              <a:avLst/>
              <a:gdLst/>
              <a:ahLst/>
              <a:cxnLst/>
              <a:rect r="r" b="b" t="t" l="l"/>
              <a:pathLst>
                <a:path h="361950" w="352425">
                  <a:moveTo>
                    <a:pt x="176276" y="361950"/>
                  </a:moveTo>
                  <a:cubicBezTo>
                    <a:pt x="78867" y="361950"/>
                    <a:pt x="0" y="280924"/>
                    <a:pt x="0" y="180975"/>
                  </a:cubicBezTo>
                  <a:cubicBezTo>
                    <a:pt x="0" y="81026"/>
                    <a:pt x="78867" y="0"/>
                    <a:pt x="176276" y="0"/>
                  </a:cubicBezTo>
                  <a:cubicBezTo>
                    <a:pt x="273685" y="0"/>
                    <a:pt x="352425" y="81026"/>
                    <a:pt x="352425" y="180975"/>
                  </a:cubicBezTo>
                  <a:cubicBezTo>
                    <a:pt x="352425" y="280924"/>
                    <a:pt x="273558" y="361950"/>
                    <a:pt x="176276" y="361950"/>
                  </a:cubicBezTo>
                  <a:close/>
                </a:path>
              </a:pathLst>
            </a:custGeom>
            <a:solidFill>
              <a:srgbClr val="0C1016"/>
            </a:solidFill>
          </p:spPr>
        </p:sp>
      </p:grpSp>
      <p:grpSp>
        <p:nvGrpSpPr>
          <p:cNvPr name="Group 5" id="5"/>
          <p:cNvGrpSpPr>
            <a:grpSpLocks noChangeAspect="true"/>
          </p:cNvGrpSpPr>
          <p:nvPr/>
        </p:nvGrpSpPr>
        <p:grpSpPr>
          <a:xfrm rot="0">
            <a:off x="1057275" y="2819400"/>
            <a:ext cx="352425" cy="361950"/>
            <a:chOff x="0" y="0"/>
            <a:chExt cx="352425" cy="36195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52425" cy="361950"/>
            </a:xfrm>
            <a:custGeom>
              <a:avLst/>
              <a:gdLst/>
              <a:ahLst/>
              <a:cxnLst/>
              <a:rect r="r" b="b" t="t" l="l"/>
              <a:pathLst>
                <a:path h="361950" w="352425">
                  <a:moveTo>
                    <a:pt x="176276" y="361950"/>
                  </a:moveTo>
                  <a:cubicBezTo>
                    <a:pt x="78867" y="361950"/>
                    <a:pt x="0" y="280924"/>
                    <a:pt x="0" y="180975"/>
                  </a:cubicBezTo>
                  <a:cubicBezTo>
                    <a:pt x="0" y="81026"/>
                    <a:pt x="78867" y="0"/>
                    <a:pt x="176276" y="0"/>
                  </a:cubicBezTo>
                  <a:cubicBezTo>
                    <a:pt x="273685" y="0"/>
                    <a:pt x="352425" y="81026"/>
                    <a:pt x="352425" y="180975"/>
                  </a:cubicBezTo>
                  <a:cubicBezTo>
                    <a:pt x="352425" y="280924"/>
                    <a:pt x="273558" y="361950"/>
                    <a:pt x="176276" y="361950"/>
                  </a:cubicBezTo>
                  <a:close/>
                </a:path>
              </a:pathLst>
            </a:custGeom>
            <a:solidFill>
              <a:srgbClr val="0C1016"/>
            </a:solidFill>
          </p:spPr>
        </p:sp>
      </p:grpSp>
      <p:grpSp>
        <p:nvGrpSpPr>
          <p:cNvPr name="Group 7" id="7"/>
          <p:cNvGrpSpPr>
            <a:grpSpLocks noChangeAspect="true"/>
          </p:cNvGrpSpPr>
          <p:nvPr/>
        </p:nvGrpSpPr>
        <p:grpSpPr>
          <a:xfrm rot="0">
            <a:off x="1057275" y="3524250"/>
            <a:ext cx="352425" cy="352425"/>
            <a:chOff x="0" y="0"/>
            <a:chExt cx="352425" cy="35242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52425" cy="352425"/>
            </a:xfrm>
            <a:custGeom>
              <a:avLst/>
              <a:gdLst/>
              <a:ahLst/>
              <a:cxnLst/>
              <a:rect r="r" b="b" t="t" l="l"/>
              <a:pathLst>
                <a:path h="352425" w="352425">
                  <a:moveTo>
                    <a:pt x="176276" y="352425"/>
                  </a:moveTo>
                  <a:cubicBezTo>
                    <a:pt x="78867" y="352425"/>
                    <a:pt x="0" y="273558"/>
                    <a:pt x="0" y="176149"/>
                  </a:cubicBezTo>
                  <a:cubicBezTo>
                    <a:pt x="0" y="78740"/>
                    <a:pt x="78867" y="0"/>
                    <a:pt x="176276" y="0"/>
                  </a:cubicBezTo>
                  <a:cubicBezTo>
                    <a:pt x="273685" y="0"/>
                    <a:pt x="352425" y="78867"/>
                    <a:pt x="352425" y="176149"/>
                  </a:cubicBezTo>
                  <a:cubicBezTo>
                    <a:pt x="352425" y="273431"/>
                    <a:pt x="273558" y="352425"/>
                    <a:pt x="176276" y="352425"/>
                  </a:cubicBezTo>
                  <a:close/>
                </a:path>
              </a:pathLst>
            </a:custGeom>
            <a:solidFill>
              <a:srgbClr val="0C1016"/>
            </a:solidFill>
          </p:spPr>
        </p:sp>
      </p:grpSp>
      <p:grpSp>
        <p:nvGrpSpPr>
          <p:cNvPr name="Group 9" id="9"/>
          <p:cNvGrpSpPr>
            <a:grpSpLocks noChangeAspect="true"/>
          </p:cNvGrpSpPr>
          <p:nvPr/>
        </p:nvGrpSpPr>
        <p:grpSpPr>
          <a:xfrm rot="0">
            <a:off x="1057275" y="4229100"/>
            <a:ext cx="352425" cy="352425"/>
            <a:chOff x="0" y="0"/>
            <a:chExt cx="352425" cy="35242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52425" cy="352425"/>
            </a:xfrm>
            <a:custGeom>
              <a:avLst/>
              <a:gdLst/>
              <a:ahLst/>
              <a:cxnLst/>
              <a:rect r="r" b="b" t="t" l="l"/>
              <a:pathLst>
                <a:path h="352425" w="352425">
                  <a:moveTo>
                    <a:pt x="176276" y="352425"/>
                  </a:moveTo>
                  <a:cubicBezTo>
                    <a:pt x="78867" y="352425"/>
                    <a:pt x="0" y="273558"/>
                    <a:pt x="0" y="176149"/>
                  </a:cubicBezTo>
                  <a:cubicBezTo>
                    <a:pt x="0" y="78867"/>
                    <a:pt x="78867" y="0"/>
                    <a:pt x="176276" y="0"/>
                  </a:cubicBezTo>
                  <a:cubicBezTo>
                    <a:pt x="273685" y="0"/>
                    <a:pt x="352425" y="78867"/>
                    <a:pt x="352425" y="176149"/>
                  </a:cubicBezTo>
                  <a:cubicBezTo>
                    <a:pt x="352425" y="273558"/>
                    <a:pt x="273558" y="352425"/>
                    <a:pt x="176149" y="352425"/>
                  </a:cubicBezTo>
                  <a:close/>
                </a:path>
              </a:pathLst>
            </a:custGeom>
            <a:solidFill>
              <a:srgbClr val="0C1016"/>
            </a:solidFill>
          </p:spPr>
        </p:sp>
      </p:grpSp>
      <p:grpSp>
        <p:nvGrpSpPr>
          <p:cNvPr name="Group 11" id="11"/>
          <p:cNvGrpSpPr>
            <a:grpSpLocks noChangeAspect="true"/>
          </p:cNvGrpSpPr>
          <p:nvPr/>
        </p:nvGrpSpPr>
        <p:grpSpPr>
          <a:xfrm rot="0">
            <a:off x="1057275" y="4943475"/>
            <a:ext cx="352425" cy="352425"/>
            <a:chOff x="0" y="0"/>
            <a:chExt cx="352425" cy="35242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52425" cy="352425"/>
            </a:xfrm>
            <a:custGeom>
              <a:avLst/>
              <a:gdLst/>
              <a:ahLst/>
              <a:cxnLst/>
              <a:rect r="r" b="b" t="t" l="l"/>
              <a:pathLst>
                <a:path h="352425" w="352425">
                  <a:moveTo>
                    <a:pt x="176276" y="352425"/>
                  </a:moveTo>
                  <a:cubicBezTo>
                    <a:pt x="78867" y="352425"/>
                    <a:pt x="0" y="273558"/>
                    <a:pt x="0" y="176149"/>
                  </a:cubicBezTo>
                  <a:cubicBezTo>
                    <a:pt x="0" y="78867"/>
                    <a:pt x="78867" y="0"/>
                    <a:pt x="176276" y="0"/>
                  </a:cubicBezTo>
                  <a:cubicBezTo>
                    <a:pt x="273685" y="0"/>
                    <a:pt x="352425" y="78867"/>
                    <a:pt x="352425" y="176149"/>
                  </a:cubicBezTo>
                  <a:cubicBezTo>
                    <a:pt x="352425" y="273558"/>
                    <a:pt x="273558" y="352425"/>
                    <a:pt x="176149" y="352425"/>
                  </a:cubicBezTo>
                  <a:close/>
                </a:path>
              </a:pathLst>
            </a:custGeom>
            <a:solidFill>
              <a:srgbClr val="0C1016"/>
            </a:solidFill>
          </p:spPr>
        </p:sp>
      </p:grpSp>
      <p:grpSp>
        <p:nvGrpSpPr>
          <p:cNvPr name="Group 13" id="13"/>
          <p:cNvGrpSpPr>
            <a:grpSpLocks noChangeAspect="true"/>
          </p:cNvGrpSpPr>
          <p:nvPr/>
        </p:nvGrpSpPr>
        <p:grpSpPr>
          <a:xfrm rot="0">
            <a:off x="1057275" y="5667375"/>
            <a:ext cx="352425" cy="352425"/>
            <a:chOff x="0" y="0"/>
            <a:chExt cx="352425" cy="35242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52425" cy="352425"/>
            </a:xfrm>
            <a:custGeom>
              <a:avLst/>
              <a:gdLst/>
              <a:ahLst/>
              <a:cxnLst/>
              <a:rect r="r" b="b" t="t" l="l"/>
              <a:pathLst>
                <a:path h="352425" w="352425">
                  <a:moveTo>
                    <a:pt x="176276" y="352425"/>
                  </a:moveTo>
                  <a:cubicBezTo>
                    <a:pt x="78867" y="352425"/>
                    <a:pt x="0" y="273558"/>
                    <a:pt x="0" y="176276"/>
                  </a:cubicBezTo>
                  <a:cubicBezTo>
                    <a:pt x="0" y="78994"/>
                    <a:pt x="78867" y="0"/>
                    <a:pt x="176276" y="0"/>
                  </a:cubicBezTo>
                  <a:cubicBezTo>
                    <a:pt x="273685" y="0"/>
                    <a:pt x="352425" y="78867"/>
                    <a:pt x="352425" y="176276"/>
                  </a:cubicBezTo>
                  <a:cubicBezTo>
                    <a:pt x="352425" y="273685"/>
                    <a:pt x="273558" y="352425"/>
                    <a:pt x="176276" y="352425"/>
                  </a:cubicBezTo>
                  <a:close/>
                </a:path>
              </a:pathLst>
            </a:custGeom>
            <a:solidFill>
              <a:srgbClr val="0C1016"/>
            </a:solidFill>
          </p:spPr>
        </p:sp>
      </p:grpSp>
      <p:grpSp>
        <p:nvGrpSpPr>
          <p:cNvPr name="Group 15" id="15"/>
          <p:cNvGrpSpPr>
            <a:grpSpLocks noChangeAspect="true"/>
          </p:cNvGrpSpPr>
          <p:nvPr/>
        </p:nvGrpSpPr>
        <p:grpSpPr>
          <a:xfrm rot="0">
            <a:off x="1063942" y="1099947"/>
            <a:ext cx="2956112" cy="436883"/>
            <a:chOff x="0" y="0"/>
            <a:chExt cx="2956116" cy="43688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956179" cy="436880"/>
            </a:xfrm>
            <a:custGeom>
              <a:avLst/>
              <a:gdLst/>
              <a:ahLst/>
              <a:cxnLst/>
              <a:rect r="r" b="b" t="t" l="l"/>
              <a:pathLst>
                <a:path h="436880" w="2956179">
                  <a:moveTo>
                    <a:pt x="341503" y="356870"/>
                  </a:moveTo>
                  <a:cubicBezTo>
                    <a:pt x="325628" y="383159"/>
                    <a:pt x="304800" y="403098"/>
                    <a:pt x="279400" y="416687"/>
                  </a:cubicBezTo>
                  <a:cubicBezTo>
                    <a:pt x="254000" y="430149"/>
                    <a:pt x="225679" y="436880"/>
                    <a:pt x="194691" y="436880"/>
                  </a:cubicBezTo>
                  <a:cubicBezTo>
                    <a:pt x="155702" y="436880"/>
                    <a:pt x="121539" y="427863"/>
                    <a:pt x="92202" y="409829"/>
                  </a:cubicBezTo>
                  <a:cubicBezTo>
                    <a:pt x="62865" y="391795"/>
                    <a:pt x="40132" y="366395"/>
                    <a:pt x="24130" y="333248"/>
                  </a:cubicBezTo>
                  <a:cubicBezTo>
                    <a:pt x="8128" y="300101"/>
                    <a:pt x="0" y="261620"/>
                    <a:pt x="0" y="217297"/>
                  </a:cubicBezTo>
                  <a:cubicBezTo>
                    <a:pt x="0" y="173990"/>
                    <a:pt x="8001" y="136144"/>
                    <a:pt x="24003" y="104013"/>
                  </a:cubicBezTo>
                  <a:cubicBezTo>
                    <a:pt x="40005" y="71882"/>
                    <a:pt x="62611" y="46990"/>
                    <a:pt x="92075" y="29337"/>
                  </a:cubicBezTo>
                  <a:cubicBezTo>
                    <a:pt x="121539" y="11684"/>
                    <a:pt x="155829" y="2794"/>
                    <a:pt x="194691" y="2794"/>
                  </a:cubicBezTo>
                  <a:cubicBezTo>
                    <a:pt x="225679" y="2794"/>
                    <a:pt x="254127" y="9652"/>
                    <a:pt x="280035" y="23368"/>
                  </a:cubicBezTo>
                  <a:cubicBezTo>
                    <a:pt x="305943" y="37084"/>
                    <a:pt x="326390" y="56896"/>
                    <a:pt x="341376" y="82804"/>
                  </a:cubicBezTo>
                  <a:lnTo>
                    <a:pt x="296164" y="113284"/>
                  </a:lnTo>
                  <a:cubicBezTo>
                    <a:pt x="283591" y="95885"/>
                    <a:pt x="267970" y="82423"/>
                    <a:pt x="249555" y="72898"/>
                  </a:cubicBezTo>
                  <a:cubicBezTo>
                    <a:pt x="231140" y="63373"/>
                    <a:pt x="212598" y="58674"/>
                    <a:pt x="194056" y="58674"/>
                  </a:cubicBezTo>
                  <a:cubicBezTo>
                    <a:pt x="167640" y="58674"/>
                    <a:pt x="144399" y="65024"/>
                    <a:pt x="124333" y="77724"/>
                  </a:cubicBezTo>
                  <a:cubicBezTo>
                    <a:pt x="104267" y="90424"/>
                    <a:pt x="88646" y="108712"/>
                    <a:pt x="77597" y="132588"/>
                  </a:cubicBezTo>
                  <a:cubicBezTo>
                    <a:pt x="66548" y="156464"/>
                    <a:pt x="60960" y="184658"/>
                    <a:pt x="60960" y="217297"/>
                  </a:cubicBezTo>
                  <a:cubicBezTo>
                    <a:pt x="60960" y="250571"/>
                    <a:pt x="66548" y="279527"/>
                    <a:pt x="77851" y="304292"/>
                  </a:cubicBezTo>
                  <a:cubicBezTo>
                    <a:pt x="89154" y="329057"/>
                    <a:pt x="104775" y="348107"/>
                    <a:pt x="124714" y="361188"/>
                  </a:cubicBezTo>
                  <a:cubicBezTo>
                    <a:pt x="144653" y="374396"/>
                    <a:pt x="167894" y="381000"/>
                    <a:pt x="194310" y="381000"/>
                  </a:cubicBezTo>
                  <a:cubicBezTo>
                    <a:pt x="212852" y="381000"/>
                    <a:pt x="231013" y="376174"/>
                    <a:pt x="248920" y="366522"/>
                  </a:cubicBezTo>
                  <a:cubicBezTo>
                    <a:pt x="266827" y="356870"/>
                    <a:pt x="282702" y="342900"/>
                    <a:pt x="296672" y="324739"/>
                  </a:cubicBezTo>
                  <a:close/>
                  <a:moveTo>
                    <a:pt x="581406" y="436880"/>
                  </a:moveTo>
                  <a:cubicBezTo>
                    <a:pt x="542417" y="436880"/>
                    <a:pt x="508635" y="428117"/>
                    <a:pt x="480060" y="410718"/>
                  </a:cubicBezTo>
                  <a:cubicBezTo>
                    <a:pt x="451358" y="393192"/>
                    <a:pt x="429260" y="368173"/>
                    <a:pt x="413766" y="335534"/>
                  </a:cubicBezTo>
                  <a:cubicBezTo>
                    <a:pt x="398272" y="302895"/>
                    <a:pt x="390525" y="264160"/>
                    <a:pt x="390525" y="219583"/>
                  </a:cubicBezTo>
                  <a:cubicBezTo>
                    <a:pt x="390525" y="175133"/>
                    <a:pt x="398272" y="136652"/>
                    <a:pt x="413766" y="104013"/>
                  </a:cubicBezTo>
                  <a:cubicBezTo>
                    <a:pt x="429133" y="71501"/>
                    <a:pt x="451231" y="46482"/>
                    <a:pt x="479933" y="28956"/>
                  </a:cubicBezTo>
                  <a:cubicBezTo>
                    <a:pt x="508635" y="11430"/>
                    <a:pt x="542417" y="2794"/>
                    <a:pt x="581406" y="2794"/>
                  </a:cubicBezTo>
                  <a:cubicBezTo>
                    <a:pt x="620395" y="2794"/>
                    <a:pt x="654177" y="11557"/>
                    <a:pt x="682879" y="28956"/>
                  </a:cubicBezTo>
                  <a:cubicBezTo>
                    <a:pt x="711581" y="46355"/>
                    <a:pt x="733679" y="71501"/>
                    <a:pt x="749046" y="104140"/>
                  </a:cubicBezTo>
                  <a:cubicBezTo>
                    <a:pt x="764413" y="136779"/>
                    <a:pt x="772287" y="175260"/>
                    <a:pt x="772287" y="219583"/>
                  </a:cubicBezTo>
                  <a:cubicBezTo>
                    <a:pt x="772287" y="264033"/>
                    <a:pt x="764540" y="302641"/>
                    <a:pt x="749046" y="335407"/>
                  </a:cubicBezTo>
                  <a:cubicBezTo>
                    <a:pt x="733552" y="368173"/>
                    <a:pt x="711454" y="393192"/>
                    <a:pt x="682752" y="410718"/>
                  </a:cubicBezTo>
                  <a:cubicBezTo>
                    <a:pt x="654177" y="428117"/>
                    <a:pt x="620395" y="436880"/>
                    <a:pt x="581406" y="436880"/>
                  </a:cubicBezTo>
                  <a:close/>
                  <a:moveTo>
                    <a:pt x="581406" y="381000"/>
                  </a:moveTo>
                  <a:cubicBezTo>
                    <a:pt x="607822" y="381000"/>
                    <a:pt x="630809" y="374650"/>
                    <a:pt x="650113" y="362077"/>
                  </a:cubicBezTo>
                  <a:cubicBezTo>
                    <a:pt x="669417" y="349504"/>
                    <a:pt x="684784" y="331089"/>
                    <a:pt x="695579" y="306705"/>
                  </a:cubicBezTo>
                  <a:cubicBezTo>
                    <a:pt x="706501" y="282448"/>
                    <a:pt x="711962" y="253365"/>
                    <a:pt x="711962" y="219583"/>
                  </a:cubicBezTo>
                  <a:cubicBezTo>
                    <a:pt x="711962" y="185928"/>
                    <a:pt x="706501" y="156972"/>
                    <a:pt x="695706" y="132842"/>
                  </a:cubicBezTo>
                  <a:cubicBezTo>
                    <a:pt x="684911" y="108585"/>
                    <a:pt x="669671" y="90170"/>
                    <a:pt x="650240" y="77597"/>
                  </a:cubicBezTo>
                  <a:cubicBezTo>
                    <a:pt x="630809" y="65024"/>
                    <a:pt x="607822" y="58674"/>
                    <a:pt x="581406" y="58674"/>
                  </a:cubicBezTo>
                  <a:cubicBezTo>
                    <a:pt x="554990" y="58674"/>
                    <a:pt x="531876" y="65024"/>
                    <a:pt x="512191" y="77597"/>
                  </a:cubicBezTo>
                  <a:cubicBezTo>
                    <a:pt x="492633" y="90297"/>
                    <a:pt x="477393" y="108585"/>
                    <a:pt x="466852" y="132715"/>
                  </a:cubicBezTo>
                  <a:cubicBezTo>
                    <a:pt x="456311" y="156845"/>
                    <a:pt x="450850" y="185674"/>
                    <a:pt x="450850" y="219583"/>
                  </a:cubicBezTo>
                  <a:cubicBezTo>
                    <a:pt x="450850" y="253619"/>
                    <a:pt x="456184" y="282702"/>
                    <a:pt x="466852" y="306832"/>
                  </a:cubicBezTo>
                  <a:cubicBezTo>
                    <a:pt x="477520" y="331089"/>
                    <a:pt x="492760" y="349504"/>
                    <a:pt x="512318" y="362077"/>
                  </a:cubicBezTo>
                  <a:cubicBezTo>
                    <a:pt x="531876" y="374650"/>
                    <a:pt x="554863" y="381000"/>
                    <a:pt x="581406" y="381000"/>
                  </a:cubicBezTo>
                  <a:close/>
                  <a:moveTo>
                    <a:pt x="909066" y="429133"/>
                  </a:moveTo>
                  <a:lnTo>
                    <a:pt x="850265" y="429133"/>
                  </a:lnTo>
                  <a:lnTo>
                    <a:pt x="850265" y="10541"/>
                  </a:lnTo>
                  <a:lnTo>
                    <a:pt x="907415" y="10541"/>
                  </a:lnTo>
                  <a:lnTo>
                    <a:pt x="1126363" y="332486"/>
                  </a:lnTo>
                  <a:lnTo>
                    <a:pt x="1120521" y="332486"/>
                  </a:lnTo>
                  <a:lnTo>
                    <a:pt x="1120521" y="10541"/>
                  </a:lnTo>
                  <a:lnTo>
                    <a:pt x="1179195" y="10541"/>
                  </a:lnTo>
                  <a:lnTo>
                    <a:pt x="1179195" y="429133"/>
                  </a:lnTo>
                  <a:lnTo>
                    <a:pt x="1122045" y="429133"/>
                  </a:lnTo>
                  <a:lnTo>
                    <a:pt x="903605" y="106680"/>
                  </a:lnTo>
                  <a:lnTo>
                    <a:pt x="908939" y="106680"/>
                  </a:lnTo>
                  <a:close/>
                  <a:moveTo>
                    <a:pt x="1418336" y="429133"/>
                  </a:moveTo>
                  <a:lnTo>
                    <a:pt x="1359154" y="429133"/>
                  </a:lnTo>
                  <a:lnTo>
                    <a:pt x="1359154" y="66421"/>
                  </a:lnTo>
                  <a:lnTo>
                    <a:pt x="1229106" y="66421"/>
                  </a:lnTo>
                  <a:lnTo>
                    <a:pt x="1229106" y="10541"/>
                  </a:lnTo>
                  <a:lnTo>
                    <a:pt x="1548003" y="10541"/>
                  </a:lnTo>
                  <a:lnTo>
                    <a:pt x="1548003" y="66421"/>
                  </a:lnTo>
                  <a:lnTo>
                    <a:pt x="1418209" y="66421"/>
                  </a:lnTo>
                  <a:close/>
                  <a:moveTo>
                    <a:pt x="1652016" y="238887"/>
                  </a:moveTo>
                  <a:lnTo>
                    <a:pt x="1652016" y="373253"/>
                  </a:lnTo>
                  <a:lnTo>
                    <a:pt x="1864233" y="373253"/>
                  </a:lnTo>
                  <a:lnTo>
                    <a:pt x="1864233" y="429133"/>
                  </a:lnTo>
                  <a:lnTo>
                    <a:pt x="1593215" y="429133"/>
                  </a:lnTo>
                  <a:lnTo>
                    <a:pt x="1593215" y="10541"/>
                  </a:lnTo>
                  <a:lnTo>
                    <a:pt x="1856994" y="10541"/>
                  </a:lnTo>
                  <a:lnTo>
                    <a:pt x="1856994" y="66421"/>
                  </a:lnTo>
                  <a:lnTo>
                    <a:pt x="1652016" y="66421"/>
                  </a:lnTo>
                  <a:lnTo>
                    <a:pt x="1652016" y="183642"/>
                  </a:lnTo>
                  <a:lnTo>
                    <a:pt x="1845437" y="183642"/>
                  </a:lnTo>
                  <a:lnTo>
                    <a:pt x="1845437" y="238887"/>
                  </a:lnTo>
                  <a:close/>
                  <a:moveTo>
                    <a:pt x="1985391" y="429133"/>
                  </a:moveTo>
                  <a:lnTo>
                    <a:pt x="1926590" y="429133"/>
                  </a:lnTo>
                  <a:lnTo>
                    <a:pt x="1926590" y="10541"/>
                  </a:lnTo>
                  <a:lnTo>
                    <a:pt x="1983740" y="10541"/>
                  </a:lnTo>
                  <a:lnTo>
                    <a:pt x="2202561" y="332486"/>
                  </a:lnTo>
                  <a:lnTo>
                    <a:pt x="2196719" y="332486"/>
                  </a:lnTo>
                  <a:lnTo>
                    <a:pt x="2196719" y="10541"/>
                  </a:lnTo>
                  <a:lnTo>
                    <a:pt x="2255393" y="10541"/>
                  </a:lnTo>
                  <a:lnTo>
                    <a:pt x="2255393" y="429133"/>
                  </a:lnTo>
                  <a:lnTo>
                    <a:pt x="2198243" y="429133"/>
                  </a:lnTo>
                  <a:lnTo>
                    <a:pt x="1979930" y="106680"/>
                  </a:lnTo>
                  <a:lnTo>
                    <a:pt x="1985264" y="106680"/>
                  </a:lnTo>
                  <a:close/>
                  <a:moveTo>
                    <a:pt x="2494661" y="429133"/>
                  </a:moveTo>
                  <a:lnTo>
                    <a:pt x="2435479" y="429133"/>
                  </a:lnTo>
                  <a:lnTo>
                    <a:pt x="2435479" y="66421"/>
                  </a:lnTo>
                  <a:lnTo>
                    <a:pt x="2305304" y="66421"/>
                  </a:lnTo>
                  <a:lnTo>
                    <a:pt x="2305304" y="10541"/>
                  </a:lnTo>
                  <a:lnTo>
                    <a:pt x="2624201" y="10541"/>
                  </a:lnTo>
                  <a:lnTo>
                    <a:pt x="2624201" y="66421"/>
                  </a:lnTo>
                  <a:lnTo>
                    <a:pt x="2494661" y="66421"/>
                  </a:lnTo>
                  <a:close/>
                  <a:moveTo>
                    <a:pt x="2807716" y="434086"/>
                  </a:moveTo>
                  <a:cubicBezTo>
                    <a:pt x="2774823" y="434086"/>
                    <a:pt x="2744597" y="426974"/>
                    <a:pt x="2717292" y="412750"/>
                  </a:cubicBezTo>
                  <a:cubicBezTo>
                    <a:pt x="2689987" y="398526"/>
                    <a:pt x="2668397" y="377063"/>
                    <a:pt x="2652776" y="348361"/>
                  </a:cubicBezTo>
                  <a:lnTo>
                    <a:pt x="2699258" y="316992"/>
                  </a:lnTo>
                  <a:cubicBezTo>
                    <a:pt x="2713101" y="338963"/>
                    <a:pt x="2728849" y="354838"/>
                    <a:pt x="2746629" y="364617"/>
                  </a:cubicBezTo>
                  <a:cubicBezTo>
                    <a:pt x="2764536" y="374396"/>
                    <a:pt x="2784983" y="379349"/>
                    <a:pt x="2808351" y="379349"/>
                  </a:cubicBezTo>
                  <a:cubicBezTo>
                    <a:pt x="2825115" y="379349"/>
                    <a:pt x="2840228" y="376555"/>
                    <a:pt x="2853817" y="370967"/>
                  </a:cubicBezTo>
                  <a:cubicBezTo>
                    <a:pt x="2867279" y="365506"/>
                    <a:pt x="2877693" y="357886"/>
                    <a:pt x="2885186" y="348234"/>
                  </a:cubicBezTo>
                  <a:cubicBezTo>
                    <a:pt x="2892679" y="338582"/>
                    <a:pt x="2896362" y="327787"/>
                    <a:pt x="2896362" y="315976"/>
                  </a:cubicBezTo>
                  <a:cubicBezTo>
                    <a:pt x="2896362" y="303784"/>
                    <a:pt x="2893187" y="293497"/>
                    <a:pt x="2886583" y="285115"/>
                  </a:cubicBezTo>
                  <a:cubicBezTo>
                    <a:pt x="2879979" y="276733"/>
                    <a:pt x="2869565" y="269113"/>
                    <a:pt x="2855341" y="262128"/>
                  </a:cubicBezTo>
                  <a:cubicBezTo>
                    <a:pt x="2840990" y="255270"/>
                    <a:pt x="2819908" y="247904"/>
                    <a:pt x="2792222" y="239903"/>
                  </a:cubicBezTo>
                  <a:cubicBezTo>
                    <a:pt x="2767203" y="233172"/>
                    <a:pt x="2745486" y="225933"/>
                    <a:pt x="2727325" y="217932"/>
                  </a:cubicBezTo>
                  <a:cubicBezTo>
                    <a:pt x="2709164" y="209931"/>
                    <a:pt x="2693543" y="197993"/>
                    <a:pt x="2680716" y="182118"/>
                  </a:cubicBezTo>
                  <a:cubicBezTo>
                    <a:pt x="2667889" y="166116"/>
                    <a:pt x="2661539" y="145161"/>
                    <a:pt x="2661539" y="119253"/>
                  </a:cubicBezTo>
                  <a:cubicBezTo>
                    <a:pt x="2661539" y="96139"/>
                    <a:pt x="2667762" y="75565"/>
                    <a:pt x="2680335" y="57531"/>
                  </a:cubicBezTo>
                  <a:cubicBezTo>
                    <a:pt x="2692781" y="39497"/>
                    <a:pt x="2710180" y="25400"/>
                    <a:pt x="2732659" y="15240"/>
                  </a:cubicBezTo>
                  <a:cubicBezTo>
                    <a:pt x="2755138" y="5080"/>
                    <a:pt x="2780411" y="0"/>
                    <a:pt x="2809367" y="0"/>
                  </a:cubicBezTo>
                  <a:cubicBezTo>
                    <a:pt x="2841625" y="0"/>
                    <a:pt x="2869565" y="6604"/>
                    <a:pt x="2893187" y="19812"/>
                  </a:cubicBezTo>
                  <a:cubicBezTo>
                    <a:pt x="2916809" y="32893"/>
                    <a:pt x="2936494" y="52705"/>
                    <a:pt x="2952242" y="78994"/>
                  </a:cubicBezTo>
                  <a:lnTo>
                    <a:pt x="2907792" y="108839"/>
                  </a:lnTo>
                  <a:cubicBezTo>
                    <a:pt x="2894076" y="91440"/>
                    <a:pt x="2878836" y="78105"/>
                    <a:pt x="2862072" y="68834"/>
                  </a:cubicBezTo>
                  <a:cubicBezTo>
                    <a:pt x="2845435" y="59436"/>
                    <a:pt x="2827528" y="54864"/>
                    <a:pt x="2808351" y="54864"/>
                  </a:cubicBezTo>
                  <a:cubicBezTo>
                    <a:pt x="2791841" y="54864"/>
                    <a:pt x="2776855" y="57658"/>
                    <a:pt x="2763393" y="63246"/>
                  </a:cubicBezTo>
                  <a:cubicBezTo>
                    <a:pt x="2749931" y="68834"/>
                    <a:pt x="2739517" y="76200"/>
                    <a:pt x="2732278" y="85344"/>
                  </a:cubicBezTo>
                  <a:cubicBezTo>
                    <a:pt x="2724912" y="94488"/>
                    <a:pt x="2721356" y="104521"/>
                    <a:pt x="2721356" y="115316"/>
                  </a:cubicBezTo>
                  <a:cubicBezTo>
                    <a:pt x="2721356" y="130302"/>
                    <a:pt x="2725547" y="142494"/>
                    <a:pt x="2734056" y="151892"/>
                  </a:cubicBezTo>
                  <a:cubicBezTo>
                    <a:pt x="2742565" y="161163"/>
                    <a:pt x="2753614" y="168529"/>
                    <a:pt x="2767203" y="173863"/>
                  </a:cubicBezTo>
                  <a:cubicBezTo>
                    <a:pt x="2780792" y="179197"/>
                    <a:pt x="2799080" y="184912"/>
                    <a:pt x="2821813" y="191008"/>
                  </a:cubicBezTo>
                  <a:cubicBezTo>
                    <a:pt x="2848737" y="198120"/>
                    <a:pt x="2871597" y="206121"/>
                    <a:pt x="2890520" y="215011"/>
                  </a:cubicBezTo>
                  <a:cubicBezTo>
                    <a:pt x="2909570" y="223901"/>
                    <a:pt x="2925191" y="236474"/>
                    <a:pt x="2937510" y="252730"/>
                  </a:cubicBezTo>
                  <a:cubicBezTo>
                    <a:pt x="2949829" y="268986"/>
                    <a:pt x="2956179" y="289560"/>
                    <a:pt x="2956179" y="314325"/>
                  </a:cubicBezTo>
                  <a:cubicBezTo>
                    <a:pt x="2956179" y="338709"/>
                    <a:pt x="2949956" y="359791"/>
                    <a:pt x="2937510" y="377825"/>
                  </a:cubicBezTo>
                  <a:cubicBezTo>
                    <a:pt x="2925064" y="395859"/>
                    <a:pt x="2907792" y="409702"/>
                    <a:pt x="2885440" y="419481"/>
                  </a:cubicBezTo>
                  <a:cubicBezTo>
                    <a:pt x="2863088" y="429260"/>
                    <a:pt x="2837180" y="434086"/>
                    <a:pt x="2807716" y="434086"/>
                  </a:cubicBezTo>
                  <a:close/>
                </a:path>
              </a:pathLst>
            </a:custGeom>
            <a:solidFill>
              <a:srgbClr val="FFFFFF">
                <a:alpha val="29804"/>
              </a:srgbClr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146496" y="1910448"/>
            <a:ext cx="451218" cy="42467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612"/>
              </a:lnSpc>
            </a:pPr>
            <a:r>
              <a:rPr lang="en-US" sz="2779" spc="36">
                <a:solidFill>
                  <a:srgbClr val="218EC1"/>
                </a:solidFill>
                <a:latin typeface="210 8비트"/>
                <a:ea typeface="210 8비트"/>
                <a:cs typeface="210 8비트"/>
                <a:sym typeface="210 8비트"/>
              </a:rPr>
              <a:t>01 02 03 04 05</a:t>
            </a:r>
          </a:p>
          <a:p>
            <a:pPr algn="just">
              <a:lnSpc>
                <a:spcPts val="3888"/>
              </a:lnSpc>
            </a:pPr>
            <a:r>
              <a:rPr lang="en-US" sz="2777" spc="38">
                <a:solidFill>
                  <a:srgbClr val="218EC1"/>
                </a:solidFill>
                <a:latin typeface="210 8비트"/>
                <a:ea typeface="210 8비트"/>
                <a:cs typeface="210 8비트"/>
                <a:sym typeface="210 8비트"/>
              </a:rPr>
              <a:t>06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939671" y="1963845"/>
            <a:ext cx="3049800" cy="4147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68"/>
              </a:lnSpc>
            </a:pPr>
            <a:r>
              <a:rPr lang="en-US" sz="2027">
                <a:solidFill>
                  <a:srgbClr val="FFFFFF"/>
                </a:solidFill>
                <a:latin typeface="210 8비트"/>
                <a:ea typeface="210 8비트"/>
                <a:cs typeface="210 8비트"/>
                <a:sym typeface="210 8비트"/>
              </a:rPr>
              <a:t>Stroke &amp; Data Landscape</a:t>
            </a:r>
          </a:p>
          <a:p>
            <a:pPr algn="l">
              <a:lnSpc>
                <a:spcPts val="5068"/>
              </a:lnSpc>
            </a:pPr>
            <a:r>
              <a:rPr lang="en-US" sz="2027">
                <a:solidFill>
                  <a:srgbClr val="FFFFFF"/>
                </a:solidFill>
                <a:latin typeface="210 8비트"/>
                <a:ea typeface="210 8비트"/>
                <a:cs typeface="210 8비트"/>
                <a:sym typeface="210 8비트"/>
              </a:rPr>
              <a:t>Model Blueprint Validation &amp; Ethics Clinical Deployment Impact &amp; Next Steps Takeaways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E12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2192000" cy="6858000"/>
          </a:xfrm>
          <a:custGeom>
            <a:avLst/>
            <a:gdLst/>
            <a:ahLst/>
            <a:cxnLst/>
            <a:rect r="r" b="b" t="t" l="l"/>
            <a:pathLst>
              <a:path h="6858000" w="12192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772650" y="1200150"/>
            <a:ext cx="2419350" cy="4305300"/>
          </a:xfrm>
          <a:custGeom>
            <a:avLst/>
            <a:gdLst/>
            <a:ahLst/>
            <a:cxnLst/>
            <a:rect r="r" b="b" t="t" l="l"/>
            <a:pathLst>
              <a:path h="4305300" w="2419350">
                <a:moveTo>
                  <a:pt x="0" y="0"/>
                </a:moveTo>
                <a:lnTo>
                  <a:pt x="2419350" y="0"/>
                </a:lnTo>
                <a:lnTo>
                  <a:pt x="2419350" y="4305300"/>
                </a:lnTo>
                <a:lnTo>
                  <a:pt x="0" y="43053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441447" y="1859804"/>
            <a:ext cx="6683769" cy="22013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48"/>
              </a:lnSpc>
            </a:pPr>
            <a:r>
              <a:rPr lang="en-US" sz="8034" spc="8">
                <a:solidFill>
                  <a:srgbClr val="218EC1"/>
                </a:solidFill>
                <a:latin typeface="210 8비트"/>
                <a:ea typeface="210 8비트"/>
                <a:cs typeface="210 8비트"/>
                <a:sym typeface="210 8비트"/>
              </a:rPr>
              <a:t>01</a:t>
            </a:r>
          </a:p>
          <a:p>
            <a:pPr algn="l">
              <a:lnSpc>
                <a:spcPts val="6201"/>
              </a:lnSpc>
            </a:pPr>
            <a:r>
              <a:rPr lang="en-US" sz="4429">
                <a:solidFill>
                  <a:srgbClr val="FFFFFF"/>
                </a:solidFill>
                <a:latin typeface="210 8비트"/>
                <a:ea typeface="210 8비트"/>
                <a:cs typeface="210 8비트"/>
                <a:sym typeface="210 8비트"/>
              </a:rPr>
              <a:t>Stroke &amp; Data Landscape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018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772650" y="1200150"/>
            <a:ext cx="2419350" cy="4305300"/>
          </a:xfrm>
          <a:custGeom>
            <a:avLst/>
            <a:gdLst/>
            <a:ahLst/>
            <a:cxnLst/>
            <a:rect r="r" b="b" t="t" l="l"/>
            <a:pathLst>
              <a:path h="4305300" w="2419350">
                <a:moveTo>
                  <a:pt x="0" y="0"/>
                </a:moveTo>
                <a:lnTo>
                  <a:pt x="2419350" y="0"/>
                </a:lnTo>
                <a:lnTo>
                  <a:pt x="2419350" y="4305300"/>
                </a:lnTo>
                <a:lnTo>
                  <a:pt x="0" y="4305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12192000" cy="6858000"/>
          </a:xfrm>
          <a:custGeom>
            <a:avLst/>
            <a:gdLst/>
            <a:ahLst/>
            <a:cxnLst/>
            <a:rect r="r" b="b" t="t" l="l"/>
            <a:pathLst>
              <a:path h="6858000" w="12192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96701" y="3440430"/>
            <a:ext cx="5346087" cy="637918"/>
          </a:xfrm>
          <a:custGeom>
            <a:avLst/>
            <a:gdLst/>
            <a:ahLst/>
            <a:cxnLst/>
            <a:rect r="r" b="b" t="t" l="l"/>
            <a:pathLst>
              <a:path h="637918" w="5346087">
                <a:moveTo>
                  <a:pt x="0" y="0"/>
                </a:moveTo>
                <a:lnTo>
                  <a:pt x="5346087" y="0"/>
                </a:lnTo>
                <a:lnTo>
                  <a:pt x="5346087" y="637918"/>
                </a:lnTo>
                <a:lnTo>
                  <a:pt x="0" y="63791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99692" y="4079624"/>
            <a:ext cx="4860493" cy="634108"/>
          </a:xfrm>
          <a:custGeom>
            <a:avLst/>
            <a:gdLst/>
            <a:ahLst/>
            <a:cxnLst/>
            <a:rect r="r" b="b" t="t" l="l"/>
            <a:pathLst>
              <a:path h="634108" w="4860493">
                <a:moveTo>
                  <a:pt x="0" y="0"/>
                </a:moveTo>
                <a:lnTo>
                  <a:pt x="4860493" y="0"/>
                </a:lnTo>
                <a:lnTo>
                  <a:pt x="4860493" y="634108"/>
                </a:lnTo>
                <a:lnTo>
                  <a:pt x="0" y="63410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032497" y="1917697"/>
            <a:ext cx="2946397" cy="1346197"/>
          </a:xfrm>
          <a:custGeom>
            <a:avLst/>
            <a:gdLst/>
            <a:ahLst/>
            <a:cxnLst/>
            <a:rect r="r" b="b" t="t" l="l"/>
            <a:pathLst>
              <a:path h="1346197" w="2946397">
                <a:moveTo>
                  <a:pt x="0" y="0"/>
                </a:moveTo>
                <a:lnTo>
                  <a:pt x="2946397" y="0"/>
                </a:lnTo>
                <a:lnTo>
                  <a:pt x="2946397" y="1346197"/>
                </a:lnTo>
                <a:lnTo>
                  <a:pt x="0" y="134619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032497" y="3336922"/>
            <a:ext cx="2946397" cy="1603372"/>
          </a:xfrm>
          <a:custGeom>
            <a:avLst/>
            <a:gdLst/>
            <a:ahLst/>
            <a:cxnLst/>
            <a:rect r="r" b="b" t="t" l="l"/>
            <a:pathLst>
              <a:path h="1603372" w="2946397">
                <a:moveTo>
                  <a:pt x="0" y="0"/>
                </a:moveTo>
                <a:lnTo>
                  <a:pt x="2946397" y="0"/>
                </a:lnTo>
                <a:lnTo>
                  <a:pt x="2946397" y="1603372"/>
                </a:lnTo>
                <a:lnTo>
                  <a:pt x="0" y="1603372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051922" y="1917697"/>
            <a:ext cx="2946397" cy="1346197"/>
          </a:xfrm>
          <a:custGeom>
            <a:avLst/>
            <a:gdLst/>
            <a:ahLst/>
            <a:cxnLst/>
            <a:rect r="r" b="b" t="t" l="l"/>
            <a:pathLst>
              <a:path h="1346197" w="2946397">
                <a:moveTo>
                  <a:pt x="0" y="0"/>
                </a:moveTo>
                <a:lnTo>
                  <a:pt x="2946397" y="0"/>
                </a:lnTo>
                <a:lnTo>
                  <a:pt x="2946397" y="1346197"/>
                </a:lnTo>
                <a:lnTo>
                  <a:pt x="0" y="1346197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9051922" y="3336922"/>
            <a:ext cx="2946397" cy="1603372"/>
          </a:xfrm>
          <a:custGeom>
            <a:avLst/>
            <a:gdLst/>
            <a:ahLst/>
            <a:cxnLst/>
            <a:rect r="r" b="b" t="t" l="l"/>
            <a:pathLst>
              <a:path h="1603372" w="2946397">
                <a:moveTo>
                  <a:pt x="0" y="0"/>
                </a:moveTo>
                <a:lnTo>
                  <a:pt x="2946397" y="0"/>
                </a:lnTo>
                <a:lnTo>
                  <a:pt x="2946397" y="1603372"/>
                </a:lnTo>
                <a:lnTo>
                  <a:pt x="0" y="1603372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254317" y="2081251"/>
            <a:ext cx="5529186" cy="1026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28"/>
              </a:lnSpc>
            </a:pPr>
            <a:r>
              <a:rPr lang="en-US" sz="3604">
                <a:solidFill>
                  <a:srgbClr val="F0F0F0"/>
                </a:solidFill>
                <a:latin typeface="20db"/>
                <a:ea typeface="20db"/>
                <a:cs typeface="20db"/>
                <a:sym typeface="20db"/>
              </a:rPr>
              <a:t>The Silent Global Burden of Stroke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007857" y="1544041"/>
            <a:ext cx="1029252" cy="2459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12"/>
              </a:lnSpc>
            </a:pPr>
            <a:r>
              <a:rPr lang="en-US" sz="3604" spc="3">
                <a:solidFill>
                  <a:srgbClr val="4A90E2"/>
                </a:solidFill>
                <a:latin typeface="20db"/>
                <a:ea typeface="20db"/>
                <a:cs typeface="20db"/>
                <a:sym typeface="20db"/>
              </a:rPr>
              <a:t>6.5M</a:t>
            </a:r>
          </a:p>
          <a:p>
            <a:pPr algn="l">
              <a:lnSpc>
                <a:spcPts val="9012"/>
              </a:lnSpc>
            </a:pPr>
            <a:r>
              <a:rPr lang="en-US" sz="3604">
                <a:solidFill>
                  <a:srgbClr val="4A90E2"/>
                </a:solidFill>
                <a:latin typeface="20db"/>
                <a:ea typeface="20db"/>
                <a:cs typeface="20db"/>
                <a:sym typeface="20db"/>
              </a:rPr>
              <a:t>30%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070716" y="1544041"/>
            <a:ext cx="945194" cy="2459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9012"/>
              </a:lnSpc>
            </a:pPr>
            <a:r>
              <a:rPr lang="en-US" sz="3604">
                <a:solidFill>
                  <a:srgbClr val="4A90E2"/>
                </a:solidFill>
                <a:latin typeface="20db"/>
                <a:ea typeface="20db"/>
                <a:cs typeface="20db"/>
                <a:sym typeface="20db"/>
              </a:rPr>
              <a:t>12M</a:t>
            </a:r>
          </a:p>
          <a:p>
            <a:pPr algn="just">
              <a:lnSpc>
                <a:spcPts val="9012"/>
              </a:lnSpc>
            </a:pPr>
            <a:r>
              <a:rPr lang="en-US" sz="3604">
                <a:solidFill>
                  <a:srgbClr val="4A90E2"/>
                </a:solidFill>
                <a:latin typeface="20db"/>
                <a:ea typeface="20db"/>
                <a:cs typeface="20db"/>
                <a:sym typeface="20db"/>
              </a:rPr>
              <a:t>80%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018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772650" y="1200150"/>
            <a:ext cx="2419350" cy="4305300"/>
          </a:xfrm>
          <a:custGeom>
            <a:avLst/>
            <a:gdLst/>
            <a:ahLst/>
            <a:cxnLst/>
            <a:rect r="r" b="b" t="t" l="l"/>
            <a:pathLst>
              <a:path h="4305300" w="2419350">
                <a:moveTo>
                  <a:pt x="0" y="0"/>
                </a:moveTo>
                <a:lnTo>
                  <a:pt x="2419350" y="0"/>
                </a:lnTo>
                <a:lnTo>
                  <a:pt x="2419350" y="4305300"/>
                </a:lnTo>
                <a:lnTo>
                  <a:pt x="0" y="4305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12192000" cy="6858000"/>
          </a:xfrm>
          <a:custGeom>
            <a:avLst/>
            <a:gdLst/>
            <a:ahLst/>
            <a:cxnLst/>
            <a:rect r="r" b="b" t="t" l="l"/>
            <a:pathLst>
              <a:path h="6858000" w="12192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555748" y="1910334"/>
            <a:ext cx="7077456" cy="195577"/>
          </a:xfrm>
          <a:custGeom>
            <a:avLst/>
            <a:gdLst/>
            <a:ahLst/>
            <a:cxnLst/>
            <a:rect r="r" b="b" t="t" l="l"/>
            <a:pathLst>
              <a:path h="195577" w="7077456">
                <a:moveTo>
                  <a:pt x="0" y="0"/>
                </a:moveTo>
                <a:lnTo>
                  <a:pt x="7077456" y="0"/>
                </a:lnTo>
                <a:lnTo>
                  <a:pt x="7077456" y="195577"/>
                </a:lnTo>
                <a:lnTo>
                  <a:pt x="0" y="19557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>
            <a:grpSpLocks noChangeAspect="true"/>
          </p:cNvGrpSpPr>
          <p:nvPr/>
        </p:nvGrpSpPr>
        <p:grpSpPr>
          <a:xfrm rot="0">
            <a:off x="257175" y="2428875"/>
            <a:ext cx="3790950" cy="3171825"/>
            <a:chOff x="0" y="0"/>
            <a:chExt cx="5054600" cy="42291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054600" cy="4229100"/>
            </a:xfrm>
            <a:custGeom>
              <a:avLst/>
              <a:gdLst/>
              <a:ahLst/>
              <a:cxnLst/>
              <a:rect r="r" b="b" t="t" l="l"/>
              <a:pathLst>
                <a:path h="4229100" w="5054600">
                  <a:moveTo>
                    <a:pt x="135382" y="0"/>
                  </a:moveTo>
                  <a:cubicBezTo>
                    <a:pt x="60579" y="0"/>
                    <a:pt x="0" y="60579"/>
                    <a:pt x="0" y="135255"/>
                  </a:cubicBezTo>
                  <a:lnTo>
                    <a:pt x="0" y="4093845"/>
                  </a:lnTo>
                  <a:cubicBezTo>
                    <a:pt x="0" y="4168521"/>
                    <a:pt x="60579" y="4229100"/>
                    <a:pt x="135382" y="4229100"/>
                  </a:cubicBezTo>
                  <a:lnTo>
                    <a:pt x="4919345" y="4229100"/>
                  </a:lnTo>
                  <a:cubicBezTo>
                    <a:pt x="4994021" y="4229100"/>
                    <a:pt x="5054600" y="4168521"/>
                    <a:pt x="5054600" y="4093845"/>
                  </a:cubicBezTo>
                  <a:lnTo>
                    <a:pt x="5054600" y="135255"/>
                  </a:lnTo>
                  <a:cubicBezTo>
                    <a:pt x="5054600" y="60579"/>
                    <a:pt x="4994021" y="0"/>
                    <a:pt x="4919345" y="0"/>
                  </a:cubicBez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4289422" y="2451097"/>
            <a:ext cx="3822697" cy="1650997"/>
          </a:xfrm>
          <a:custGeom>
            <a:avLst/>
            <a:gdLst/>
            <a:ahLst/>
            <a:cxnLst/>
            <a:rect r="r" b="b" t="t" l="l"/>
            <a:pathLst>
              <a:path h="1650997" w="3822697">
                <a:moveTo>
                  <a:pt x="0" y="0"/>
                </a:moveTo>
                <a:lnTo>
                  <a:pt x="3822697" y="0"/>
                </a:lnTo>
                <a:lnTo>
                  <a:pt x="3822697" y="1650997"/>
                </a:lnTo>
                <a:lnTo>
                  <a:pt x="0" y="165099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8185147" y="2451097"/>
            <a:ext cx="3822697" cy="1650997"/>
          </a:xfrm>
          <a:custGeom>
            <a:avLst/>
            <a:gdLst/>
            <a:ahLst/>
            <a:cxnLst/>
            <a:rect r="r" b="b" t="t" l="l"/>
            <a:pathLst>
              <a:path h="1650997" w="3822697">
                <a:moveTo>
                  <a:pt x="0" y="0"/>
                </a:moveTo>
                <a:lnTo>
                  <a:pt x="3822697" y="0"/>
                </a:lnTo>
                <a:lnTo>
                  <a:pt x="3822697" y="1650997"/>
                </a:lnTo>
                <a:lnTo>
                  <a:pt x="0" y="165099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4289422" y="4175122"/>
            <a:ext cx="7708897" cy="1403347"/>
          </a:xfrm>
          <a:custGeom>
            <a:avLst/>
            <a:gdLst/>
            <a:ahLst/>
            <a:cxnLst/>
            <a:rect r="r" b="b" t="t" l="l"/>
            <a:pathLst>
              <a:path h="1403347" w="7708897">
                <a:moveTo>
                  <a:pt x="0" y="0"/>
                </a:moveTo>
                <a:lnTo>
                  <a:pt x="7708897" y="0"/>
                </a:lnTo>
                <a:lnTo>
                  <a:pt x="7708897" y="1403347"/>
                </a:lnTo>
                <a:lnTo>
                  <a:pt x="0" y="140334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3119504" y="1083412"/>
            <a:ext cx="6083475" cy="5482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6"/>
              </a:lnSpc>
            </a:pPr>
            <a:r>
              <a:rPr lang="en-US" sz="3004">
                <a:solidFill>
                  <a:srgbClr val="F0F0F0"/>
                </a:solidFill>
                <a:latin typeface="20db"/>
                <a:ea typeface="20db"/>
                <a:cs typeface="20db"/>
                <a:sym typeface="20db"/>
              </a:rPr>
              <a:t>Clinical Data Goldmine Unpacked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558665" y="2687745"/>
            <a:ext cx="1440199" cy="3295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3"/>
              </a:lnSpc>
            </a:pPr>
            <a:r>
              <a:rPr lang="en-US" sz="1802">
                <a:solidFill>
                  <a:srgbClr val="4A90E2"/>
                </a:solidFill>
                <a:latin typeface="210 8비트"/>
                <a:ea typeface="210 8비트"/>
                <a:cs typeface="210 8비트"/>
                <a:sym typeface="210 8비트"/>
              </a:rPr>
              <a:t>Data Sources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558665" y="4407579"/>
            <a:ext cx="2083613" cy="606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620"/>
              </a:lnSpc>
            </a:pPr>
            <a:r>
              <a:rPr lang="en-US" sz="1802">
                <a:solidFill>
                  <a:srgbClr val="4A90E2"/>
                </a:solidFill>
                <a:latin typeface="210 8비트"/>
                <a:ea typeface="210 8비트"/>
                <a:cs typeface="210 8비트"/>
                <a:sym typeface="210 8비트"/>
              </a:rPr>
              <a:t>Scale &amp; Granularity</a:t>
            </a:r>
          </a:p>
          <a:p>
            <a:pPr algn="r">
              <a:lnSpc>
                <a:spcPts val="2075"/>
              </a:lnSpc>
            </a:pPr>
            <a:r>
              <a:rPr lang="en-US" sz="1427">
                <a:solidFill>
                  <a:srgbClr val="F0F0F0"/>
                </a:solidFill>
                <a:latin typeface="210 8비트"/>
                <a:ea typeface="210 8비트"/>
                <a:cs typeface="210 8비트"/>
                <a:sym typeface="210 8비트"/>
              </a:rPr>
              <a:t>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455914" y="2687745"/>
            <a:ext cx="1580064" cy="3295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3"/>
              </a:lnSpc>
            </a:pPr>
            <a:r>
              <a:rPr lang="en-US" sz="1802" spc="3">
                <a:solidFill>
                  <a:srgbClr val="4A90E2"/>
                </a:solidFill>
                <a:latin typeface="210 8비트"/>
                <a:ea typeface="210 8비트"/>
                <a:cs typeface="210 8비트"/>
                <a:sym typeface="210 8비트"/>
              </a:rPr>
              <a:t>Key Predictors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215634" y="4754699"/>
            <a:ext cx="2150602" cy="261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98"/>
              </a:lnSpc>
            </a:pPr>
            <a:r>
              <a:rPr lang="en-US" sz="1427">
                <a:solidFill>
                  <a:srgbClr val="F0F0F0"/>
                </a:solidFill>
                <a:latin typeface="210 8비트"/>
                <a:ea typeface="210 8비트"/>
                <a:cs typeface="210 8비트"/>
                <a:sym typeface="210 8비트"/>
              </a:rPr>
              <a:t>300variables per patient 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E12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2192000" cy="6858000"/>
          </a:xfrm>
          <a:custGeom>
            <a:avLst/>
            <a:gdLst/>
            <a:ahLst/>
            <a:cxnLst/>
            <a:rect r="r" b="b" t="t" l="l"/>
            <a:pathLst>
              <a:path h="6858000" w="12192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772650" y="1200150"/>
            <a:ext cx="2419350" cy="4305300"/>
          </a:xfrm>
          <a:custGeom>
            <a:avLst/>
            <a:gdLst/>
            <a:ahLst/>
            <a:cxnLst/>
            <a:rect r="r" b="b" t="t" l="l"/>
            <a:pathLst>
              <a:path h="4305300" w="2419350">
                <a:moveTo>
                  <a:pt x="0" y="0"/>
                </a:moveTo>
                <a:lnTo>
                  <a:pt x="2419350" y="0"/>
                </a:lnTo>
                <a:lnTo>
                  <a:pt x="2419350" y="4305300"/>
                </a:lnTo>
                <a:lnTo>
                  <a:pt x="0" y="43053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441447" y="2097929"/>
            <a:ext cx="4196658" cy="19632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782"/>
              </a:lnSpc>
            </a:pPr>
            <a:r>
              <a:rPr lang="en-US" sz="8034" spc="8">
                <a:solidFill>
                  <a:srgbClr val="218EC1"/>
                </a:solidFill>
                <a:latin typeface="210 8비트"/>
                <a:ea typeface="210 8비트"/>
                <a:cs typeface="210 8비트"/>
                <a:sym typeface="210 8비트"/>
              </a:rPr>
              <a:t>02</a:t>
            </a:r>
          </a:p>
          <a:p>
            <a:pPr algn="l">
              <a:lnSpc>
                <a:spcPts val="6201"/>
              </a:lnSpc>
            </a:pPr>
            <a:r>
              <a:rPr lang="en-US" sz="4429">
                <a:solidFill>
                  <a:srgbClr val="FFFFFF"/>
                </a:solidFill>
                <a:latin typeface="210 8비트"/>
                <a:ea typeface="210 8비트"/>
                <a:cs typeface="210 8비트"/>
                <a:sym typeface="210 8비트"/>
              </a:rPr>
              <a:t>Model Blueprint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040952" y="3113713"/>
            <a:ext cx="166421" cy="9690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93"/>
              </a:lnSpc>
            </a:pPr>
            <a:r>
              <a:rPr lang="en-US" sz="4429">
                <a:solidFill>
                  <a:srgbClr val="FFFFFF"/>
                </a:solidFill>
                <a:latin typeface="210 8비트"/>
                <a:ea typeface="210 8비트"/>
                <a:cs typeface="210 8비트"/>
                <a:sym typeface="210 8비트"/>
              </a:rPr>
              <a:t> 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018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772650" y="1200150"/>
            <a:ext cx="2419350" cy="4305300"/>
          </a:xfrm>
          <a:custGeom>
            <a:avLst/>
            <a:gdLst/>
            <a:ahLst/>
            <a:cxnLst/>
            <a:rect r="r" b="b" t="t" l="l"/>
            <a:pathLst>
              <a:path h="4305300" w="2419350">
                <a:moveTo>
                  <a:pt x="0" y="0"/>
                </a:moveTo>
                <a:lnTo>
                  <a:pt x="2419350" y="0"/>
                </a:lnTo>
                <a:lnTo>
                  <a:pt x="2419350" y="4305300"/>
                </a:lnTo>
                <a:lnTo>
                  <a:pt x="0" y="4305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12192000" cy="6858000"/>
          </a:xfrm>
          <a:custGeom>
            <a:avLst/>
            <a:gdLst/>
            <a:ahLst/>
            <a:cxnLst/>
            <a:rect r="r" b="b" t="t" l="l"/>
            <a:pathLst>
              <a:path h="6858000" w="12192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12822" y="2527297"/>
            <a:ext cx="1146172" cy="1146172"/>
          </a:xfrm>
          <a:custGeom>
            <a:avLst/>
            <a:gdLst/>
            <a:ahLst/>
            <a:cxnLst/>
            <a:rect r="r" b="b" t="t" l="l"/>
            <a:pathLst>
              <a:path h="1146172" w="1146172">
                <a:moveTo>
                  <a:pt x="0" y="0"/>
                </a:moveTo>
                <a:lnTo>
                  <a:pt x="1146172" y="0"/>
                </a:lnTo>
                <a:lnTo>
                  <a:pt x="1146172" y="1146172"/>
                </a:lnTo>
                <a:lnTo>
                  <a:pt x="0" y="114617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00986" y="3994528"/>
            <a:ext cx="2177948" cy="445132"/>
          </a:xfrm>
          <a:custGeom>
            <a:avLst/>
            <a:gdLst/>
            <a:ahLst/>
            <a:cxnLst/>
            <a:rect r="r" b="b" t="t" l="l"/>
            <a:pathLst>
              <a:path h="445132" w="2177948">
                <a:moveTo>
                  <a:pt x="0" y="0"/>
                </a:moveTo>
                <a:lnTo>
                  <a:pt x="2177949" y="0"/>
                </a:lnTo>
                <a:lnTo>
                  <a:pt x="2177949" y="445132"/>
                </a:lnTo>
                <a:lnTo>
                  <a:pt x="0" y="44513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714625" y="3171825"/>
            <a:ext cx="2257425" cy="57150"/>
          </a:xfrm>
          <a:custGeom>
            <a:avLst/>
            <a:gdLst/>
            <a:ahLst/>
            <a:cxnLst/>
            <a:rect r="r" b="b" t="t" l="l"/>
            <a:pathLst>
              <a:path h="57150" w="2257425">
                <a:moveTo>
                  <a:pt x="0" y="0"/>
                </a:moveTo>
                <a:lnTo>
                  <a:pt x="2257425" y="0"/>
                </a:lnTo>
                <a:lnTo>
                  <a:pt x="2257425" y="57150"/>
                </a:lnTo>
                <a:lnTo>
                  <a:pt x="0" y="5715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5527672" y="2527297"/>
            <a:ext cx="1136647" cy="1146172"/>
          </a:xfrm>
          <a:custGeom>
            <a:avLst/>
            <a:gdLst/>
            <a:ahLst/>
            <a:cxnLst/>
            <a:rect r="r" b="b" t="t" l="l"/>
            <a:pathLst>
              <a:path h="1146172" w="1136647">
                <a:moveTo>
                  <a:pt x="0" y="0"/>
                </a:moveTo>
                <a:lnTo>
                  <a:pt x="1136647" y="0"/>
                </a:lnTo>
                <a:lnTo>
                  <a:pt x="1136647" y="1146172"/>
                </a:lnTo>
                <a:lnTo>
                  <a:pt x="0" y="1146172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4972307" y="3994528"/>
            <a:ext cx="2258063" cy="476126"/>
          </a:xfrm>
          <a:custGeom>
            <a:avLst/>
            <a:gdLst/>
            <a:ahLst/>
            <a:cxnLst/>
            <a:rect r="r" b="b" t="t" l="l"/>
            <a:pathLst>
              <a:path h="476126" w="2258063">
                <a:moveTo>
                  <a:pt x="0" y="0"/>
                </a:moveTo>
                <a:lnTo>
                  <a:pt x="2258063" y="0"/>
                </a:lnTo>
                <a:lnTo>
                  <a:pt x="2258063" y="476126"/>
                </a:lnTo>
                <a:lnTo>
                  <a:pt x="0" y="476126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7219950" y="3171825"/>
            <a:ext cx="2266950" cy="57150"/>
          </a:xfrm>
          <a:custGeom>
            <a:avLst/>
            <a:gdLst/>
            <a:ahLst/>
            <a:cxnLst/>
            <a:rect r="r" b="b" t="t" l="l"/>
            <a:pathLst>
              <a:path h="57150" w="2266950">
                <a:moveTo>
                  <a:pt x="0" y="0"/>
                </a:moveTo>
                <a:lnTo>
                  <a:pt x="2266950" y="0"/>
                </a:lnTo>
                <a:lnTo>
                  <a:pt x="2266950" y="57150"/>
                </a:lnTo>
                <a:lnTo>
                  <a:pt x="0" y="57150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756285" y="4788284"/>
            <a:ext cx="10673210" cy="403222"/>
          </a:xfrm>
          <a:custGeom>
            <a:avLst/>
            <a:gdLst/>
            <a:ahLst/>
            <a:cxnLst/>
            <a:rect r="r" b="b" t="t" l="l"/>
            <a:pathLst>
              <a:path h="403222" w="10673210">
                <a:moveTo>
                  <a:pt x="0" y="0"/>
                </a:moveTo>
                <a:lnTo>
                  <a:pt x="10673210" y="0"/>
                </a:lnTo>
                <a:lnTo>
                  <a:pt x="10673210" y="403222"/>
                </a:lnTo>
                <a:lnTo>
                  <a:pt x="0" y="403222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0032997" y="2527297"/>
            <a:ext cx="1146172" cy="1146172"/>
          </a:xfrm>
          <a:custGeom>
            <a:avLst/>
            <a:gdLst/>
            <a:ahLst/>
            <a:cxnLst/>
            <a:rect r="r" b="b" t="t" l="l"/>
            <a:pathLst>
              <a:path h="1146172" w="1146172">
                <a:moveTo>
                  <a:pt x="0" y="0"/>
                </a:moveTo>
                <a:lnTo>
                  <a:pt x="1146172" y="0"/>
                </a:lnTo>
                <a:lnTo>
                  <a:pt x="1146172" y="1146172"/>
                </a:lnTo>
                <a:lnTo>
                  <a:pt x="0" y="1146172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9451343" y="3994528"/>
            <a:ext cx="2318004" cy="473964"/>
          </a:xfrm>
          <a:custGeom>
            <a:avLst/>
            <a:gdLst/>
            <a:ahLst/>
            <a:cxnLst/>
            <a:rect r="r" b="b" t="t" l="l"/>
            <a:pathLst>
              <a:path h="473964" w="2318004">
                <a:moveTo>
                  <a:pt x="0" y="0"/>
                </a:moveTo>
                <a:lnTo>
                  <a:pt x="2318004" y="0"/>
                </a:lnTo>
                <a:lnTo>
                  <a:pt x="2318004" y="473964"/>
                </a:lnTo>
                <a:lnTo>
                  <a:pt x="0" y="473964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2128904" y="1554718"/>
            <a:ext cx="8098203" cy="5478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3"/>
              </a:lnSpc>
            </a:pPr>
            <a:r>
              <a:rPr lang="en-US" sz="3002" spc="3">
                <a:solidFill>
                  <a:srgbClr val="F0F0F0"/>
                </a:solidFill>
                <a:latin typeface="20db"/>
                <a:ea typeface="20db"/>
                <a:cs typeface="20db"/>
                <a:sym typeface="20db"/>
              </a:rPr>
              <a:t>From EHR to Model Matrix: The Data Pipeline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05513" y="3687347"/>
            <a:ext cx="1382068" cy="2844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04"/>
              </a:lnSpc>
            </a:pPr>
            <a:r>
              <a:rPr lang="en-US" sz="1575" spc="12">
                <a:solidFill>
                  <a:srgbClr val="F0F0F0"/>
                </a:solidFill>
                <a:latin typeface="210 8비트"/>
                <a:ea typeface="210 8비트"/>
                <a:cs typeface="210 8비트"/>
                <a:sym typeface="210 8비트"/>
              </a:rPr>
              <a:t>Raw EHR Data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585079" y="3687347"/>
            <a:ext cx="1043797" cy="2844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04"/>
              </a:lnSpc>
            </a:pPr>
            <a:r>
              <a:rPr lang="en-US" sz="1575">
                <a:solidFill>
                  <a:srgbClr val="F0F0F0"/>
                </a:solidFill>
                <a:latin typeface="210 8비트"/>
                <a:ea typeface="210 8비트"/>
                <a:cs typeface="210 8비트"/>
                <a:sym typeface="210 8비트"/>
              </a:rPr>
              <a:t>Pro</a:t>
            </a:r>
            <a:r>
              <a:rPr lang="en-US" sz="1575">
                <a:solidFill>
                  <a:srgbClr val="000000"/>
                </a:solidFill>
                <a:latin typeface="210 8비트"/>
                <a:ea typeface="210 8비트"/>
                <a:cs typeface="210 8비트"/>
                <a:sym typeface="210 8비트"/>
              </a:rPr>
              <a:t> </a:t>
            </a:r>
            <a:r>
              <a:rPr lang="en-US" sz="1575">
                <a:solidFill>
                  <a:srgbClr val="F0F0F0"/>
                </a:solidFill>
                <a:latin typeface="210 8비트"/>
                <a:ea typeface="210 8비트"/>
                <a:cs typeface="210 8비트"/>
                <a:sym typeface="210 8비트"/>
              </a:rPr>
              <a:t>cessi</a:t>
            </a:r>
            <a:r>
              <a:rPr lang="en-US" sz="1575">
                <a:solidFill>
                  <a:srgbClr val="000000"/>
                </a:solidFill>
                <a:latin typeface="210 8비트"/>
                <a:ea typeface="210 8비트"/>
                <a:cs typeface="210 8비트"/>
                <a:sym typeface="210 8비트"/>
              </a:rPr>
              <a:t> </a:t>
            </a:r>
            <a:r>
              <a:rPr lang="en-US" sz="1575">
                <a:solidFill>
                  <a:srgbClr val="F0F0F0"/>
                </a:solidFill>
                <a:latin typeface="210 8비트"/>
                <a:ea typeface="210 8비트"/>
                <a:cs typeface="210 8비트"/>
                <a:sym typeface="210 8비트"/>
              </a:rPr>
              <a:t>ng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927212" y="3687347"/>
            <a:ext cx="1390841" cy="2844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04"/>
              </a:lnSpc>
            </a:pPr>
            <a:r>
              <a:rPr lang="en-US" sz="1575" spc="11">
                <a:solidFill>
                  <a:srgbClr val="F0F0F0"/>
                </a:solidFill>
                <a:latin typeface="210 8비트"/>
                <a:ea typeface="210 8비트"/>
                <a:cs typeface="210 8비트"/>
                <a:sym typeface="210 8비트"/>
              </a:rPr>
              <a:t>Feature Matrix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944873" y="4805467"/>
            <a:ext cx="4067575" cy="2848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08"/>
              </a:lnSpc>
            </a:pPr>
            <a:r>
              <a:rPr lang="en-US" sz="1577" spc="9">
                <a:solidFill>
                  <a:srgbClr val="F0F0F0"/>
                </a:solidFill>
                <a:latin typeface="210 8비트"/>
                <a:ea typeface="210 8비트"/>
                <a:cs typeface="210 8비트"/>
                <a:sym typeface="210 8비트"/>
              </a:rPr>
              <a:t>granularity with computational tractability 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018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772650" y="1200150"/>
            <a:ext cx="2419350" cy="4305300"/>
          </a:xfrm>
          <a:custGeom>
            <a:avLst/>
            <a:gdLst/>
            <a:ahLst/>
            <a:cxnLst/>
            <a:rect r="r" b="b" t="t" l="l"/>
            <a:pathLst>
              <a:path h="4305300" w="2419350">
                <a:moveTo>
                  <a:pt x="0" y="0"/>
                </a:moveTo>
                <a:lnTo>
                  <a:pt x="2419350" y="0"/>
                </a:lnTo>
                <a:lnTo>
                  <a:pt x="2419350" y="4305300"/>
                </a:lnTo>
                <a:lnTo>
                  <a:pt x="0" y="4305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12192000" cy="6858000"/>
          </a:xfrm>
          <a:custGeom>
            <a:avLst/>
            <a:gdLst/>
            <a:ahLst/>
            <a:cxnLst/>
            <a:rect r="r" b="b" t="t" l="l"/>
            <a:pathLst>
              <a:path h="6858000" w="12192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26588" y="5324599"/>
            <a:ext cx="869566" cy="138941"/>
          </a:xfrm>
          <a:custGeom>
            <a:avLst/>
            <a:gdLst/>
            <a:ahLst/>
            <a:cxnLst/>
            <a:rect r="r" b="b" t="t" l="l"/>
            <a:pathLst>
              <a:path h="138941" w="869566">
                <a:moveTo>
                  <a:pt x="0" y="0"/>
                </a:moveTo>
                <a:lnTo>
                  <a:pt x="869566" y="0"/>
                </a:lnTo>
                <a:lnTo>
                  <a:pt x="869566" y="138941"/>
                </a:lnTo>
                <a:lnTo>
                  <a:pt x="0" y="13894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57200" y="2684783"/>
            <a:ext cx="11277600" cy="20317"/>
          </a:xfrm>
          <a:custGeom>
            <a:avLst/>
            <a:gdLst/>
            <a:ahLst/>
            <a:cxnLst/>
            <a:rect r="r" b="b" t="t" l="l"/>
            <a:pathLst>
              <a:path h="20317" w="11277600">
                <a:moveTo>
                  <a:pt x="0" y="0"/>
                </a:moveTo>
                <a:lnTo>
                  <a:pt x="11277600" y="0"/>
                </a:lnTo>
                <a:lnTo>
                  <a:pt x="11277600" y="20317"/>
                </a:lnTo>
                <a:lnTo>
                  <a:pt x="0" y="2031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57200" y="3281677"/>
            <a:ext cx="11277600" cy="10163"/>
          </a:xfrm>
          <a:custGeom>
            <a:avLst/>
            <a:gdLst/>
            <a:ahLst/>
            <a:cxnLst/>
            <a:rect r="r" b="b" t="t" l="l"/>
            <a:pathLst>
              <a:path h="10163" w="11277600">
                <a:moveTo>
                  <a:pt x="0" y="0"/>
                </a:moveTo>
                <a:lnTo>
                  <a:pt x="11277600" y="0"/>
                </a:lnTo>
                <a:lnTo>
                  <a:pt x="11277600" y="10163"/>
                </a:lnTo>
                <a:lnTo>
                  <a:pt x="0" y="1016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457200" y="5057137"/>
            <a:ext cx="11277600" cy="10163"/>
          </a:xfrm>
          <a:custGeom>
            <a:avLst/>
            <a:gdLst/>
            <a:ahLst/>
            <a:cxnLst/>
            <a:rect r="r" b="b" t="t" l="l"/>
            <a:pathLst>
              <a:path h="10163" w="11277600">
                <a:moveTo>
                  <a:pt x="0" y="0"/>
                </a:moveTo>
                <a:lnTo>
                  <a:pt x="11277600" y="0"/>
                </a:lnTo>
                <a:lnTo>
                  <a:pt x="11277600" y="10163"/>
                </a:lnTo>
                <a:lnTo>
                  <a:pt x="0" y="1016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4480941" y="5309111"/>
            <a:ext cx="6277613" cy="189995"/>
          </a:xfrm>
          <a:custGeom>
            <a:avLst/>
            <a:gdLst/>
            <a:ahLst/>
            <a:cxnLst/>
            <a:rect r="r" b="b" t="t" l="l"/>
            <a:pathLst>
              <a:path h="189995" w="6277613">
                <a:moveTo>
                  <a:pt x="0" y="0"/>
                </a:moveTo>
                <a:lnTo>
                  <a:pt x="6277613" y="0"/>
                </a:lnTo>
                <a:lnTo>
                  <a:pt x="6277613" y="189995"/>
                </a:lnTo>
                <a:lnTo>
                  <a:pt x="0" y="18999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393697" y="3810000"/>
            <a:ext cx="11404597" cy="728977"/>
          </a:xfrm>
          <a:custGeom>
            <a:avLst/>
            <a:gdLst/>
            <a:ahLst/>
            <a:cxnLst/>
            <a:rect r="r" b="b" t="t" l="l"/>
            <a:pathLst>
              <a:path h="728977" w="11404597">
                <a:moveTo>
                  <a:pt x="0" y="0"/>
                </a:moveTo>
                <a:lnTo>
                  <a:pt x="11404597" y="0"/>
                </a:lnTo>
                <a:lnTo>
                  <a:pt x="11404597" y="728977"/>
                </a:lnTo>
                <a:lnTo>
                  <a:pt x="0" y="728977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3188713" y="1167232"/>
            <a:ext cx="5934780" cy="5482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6"/>
              </a:lnSpc>
            </a:pPr>
            <a:r>
              <a:rPr lang="en-US" sz="3004">
                <a:solidFill>
                  <a:srgbClr val="F0F0F0"/>
                </a:solidFill>
                <a:latin typeface="20db"/>
                <a:ea typeface="20db"/>
                <a:cs typeface="20db"/>
                <a:sym typeface="20db"/>
              </a:rPr>
              <a:t>Algorithm Lineup &amp; Performance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48954" y="2221868"/>
            <a:ext cx="2010185" cy="891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3"/>
              </a:lnSpc>
            </a:pPr>
            <a:r>
              <a:rPr lang="en-US" b="true" sz="1802" spc="1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Model</a:t>
            </a:r>
          </a:p>
          <a:p>
            <a:pPr algn="l">
              <a:lnSpc>
                <a:spcPts val="3943"/>
              </a:lnSpc>
            </a:pPr>
            <a:r>
              <a:rPr lang="en-US" b="true" sz="1577" spc="17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Logistic Regression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450212" y="2221868"/>
            <a:ext cx="2422503" cy="891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3"/>
              </a:lnSpc>
            </a:pPr>
            <a:r>
              <a:rPr lang="en-US" b="true" sz="1802" spc="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Cross-Validated AUC</a:t>
            </a:r>
          </a:p>
          <a:p>
            <a:pPr algn="l">
              <a:lnSpc>
                <a:spcPts val="3943"/>
              </a:lnSpc>
            </a:pPr>
            <a:r>
              <a:rPr lang="en-US" sz="1577" spc="14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0.78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809356" y="2221868"/>
            <a:ext cx="1900780" cy="873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3"/>
              </a:lnSpc>
            </a:pPr>
            <a:r>
              <a:rPr lang="en-US" b="true" sz="1802" spc="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Key Strengths</a:t>
            </a:r>
          </a:p>
          <a:p>
            <a:pPr algn="l">
              <a:lnSpc>
                <a:spcPts val="3568"/>
              </a:lnSpc>
            </a:pPr>
            <a:r>
              <a:rPr lang="en-US" sz="1427" spc="7">
                <a:solidFill>
                  <a:srgbClr val="F0F0F0"/>
                </a:solidFill>
                <a:latin typeface="Open Sans"/>
                <a:ea typeface="Open Sans"/>
                <a:cs typeface="Open Sans"/>
                <a:sym typeface="Open Sans"/>
              </a:rPr>
              <a:t>Interpretable baseline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48954" y="4608195"/>
            <a:ext cx="494119" cy="2845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08"/>
              </a:lnSpc>
            </a:pPr>
            <a:r>
              <a:rPr lang="en-US" b="true" sz="1577" spc="26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RNN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48954" y="3261103"/>
            <a:ext cx="1582893" cy="446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43"/>
              </a:lnSpc>
            </a:pPr>
            <a:r>
              <a:rPr lang="en-US" b="true" sz="1577" spc="2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Random Forest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450212" y="3261103"/>
            <a:ext cx="411147" cy="446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43"/>
              </a:lnSpc>
            </a:pPr>
            <a:r>
              <a:rPr lang="en-US" sz="1577" spc="14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0.85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450212" y="4608195"/>
            <a:ext cx="411147" cy="2845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08"/>
              </a:lnSpc>
            </a:pPr>
            <a:r>
              <a:rPr lang="en-US" sz="1577" spc="14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0.88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809356" y="3295812"/>
            <a:ext cx="2795740" cy="394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8"/>
              </a:lnSpc>
            </a:pPr>
            <a:r>
              <a:rPr lang="en-US" sz="1427" spc="7">
                <a:solidFill>
                  <a:srgbClr val="F0F0F0"/>
                </a:solidFill>
                <a:latin typeface="Open Sans"/>
                <a:ea typeface="Open Sans"/>
                <a:cs typeface="Open Sans"/>
                <a:sym typeface="Open Sans"/>
              </a:rPr>
              <a:t>Captures non-linear interactions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809356" y="3888267"/>
            <a:ext cx="4004024" cy="394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8"/>
              </a:lnSpc>
            </a:pPr>
            <a:r>
              <a:rPr lang="en-US" sz="1427" spc="7">
                <a:solidFill>
                  <a:srgbClr val="F0F0F0"/>
                </a:solidFill>
                <a:latin typeface="Open Sans"/>
                <a:ea typeface="Open Sans"/>
                <a:cs typeface="Open Sans"/>
                <a:sym typeface="Open Sans"/>
              </a:rPr>
              <a:t>Superior performance on BP-lipid interactions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809356" y="4481103"/>
            <a:ext cx="2881217" cy="394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8"/>
              </a:lnSpc>
            </a:pPr>
            <a:r>
              <a:rPr lang="en-US" sz="1427" spc="7">
                <a:solidFill>
                  <a:srgbClr val="F0F0F0"/>
                </a:solidFill>
                <a:latin typeface="Open Sans"/>
                <a:ea typeface="Open Sans"/>
                <a:cs typeface="Open Sans"/>
                <a:sym typeface="Open Sans"/>
              </a:rPr>
              <a:t>Exploits temporal visit sequences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48954" y="4016188"/>
            <a:ext cx="901589" cy="2841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04"/>
              </a:lnSpc>
            </a:pPr>
            <a:r>
              <a:rPr lang="en-US" b="true" sz="1575" spc="20">
                <a:solidFill>
                  <a:srgbClr val="F0F0F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XGBoost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3450212" y="4016188"/>
            <a:ext cx="446208" cy="2841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04"/>
              </a:lnSpc>
            </a:pPr>
            <a:r>
              <a:rPr lang="en-US" b="true" sz="1575" spc="34">
                <a:solidFill>
                  <a:srgbClr val="F0F0F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0.91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2354580" y="5218633"/>
            <a:ext cx="2154669" cy="261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98"/>
              </a:lnSpc>
            </a:pPr>
            <a:r>
              <a:rPr lang="en-US" sz="1427">
                <a:solidFill>
                  <a:srgbClr val="F0F0F0"/>
                </a:solidFill>
                <a:latin typeface="210 8비트"/>
                <a:ea typeface="210 8비트"/>
                <a:cs typeface="210 8비트"/>
                <a:sym typeface="210 8비트"/>
              </a:rPr>
              <a:t>1.2 million patient records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018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772650" y="1200150"/>
            <a:ext cx="2419350" cy="4305300"/>
          </a:xfrm>
          <a:custGeom>
            <a:avLst/>
            <a:gdLst/>
            <a:ahLst/>
            <a:cxnLst/>
            <a:rect r="r" b="b" t="t" l="l"/>
            <a:pathLst>
              <a:path h="4305300" w="2419350">
                <a:moveTo>
                  <a:pt x="0" y="0"/>
                </a:moveTo>
                <a:lnTo>
                  <a:pt x="2419350" y="0"/>
                </a:lnTo>
                <a:lnTo>
                  <a:pt x="2419350" y="4305300"/>
                </a:lnTo>
                <a:lnTo>
                  <a:pt x="0" y="4305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12192000" cy="6858000"/>
          </a:xfrm>
          <a:custGeom>
            <a:avLst/>
            <a:gdLst/>
            <a:ahLst/>
            <a:cxnLst/>
            <a:rect r="r" b="b" t="t" l="l"/>
            <a:pathLst>
              <a:path h="6858000" w="12192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93672" y="4051297"/>
            <a:ext cx="5813422" cy="1298572"/>
          </a:xfrm>
          <a:custGeom>
            <a:avLst/>
            <a:gdLst/>
            <a:ahLst/>
            <a:cxnLst/>
            <a:rect r="r" b="b" t="t" l="l"/>
            <a:pathLst>
              <a:path h="1298572" w="5813422">
                <a:moveTo>
                  <a:pt x="0" y="0"/>
                </a:moveTo>
                <a:lnTo>
                  <a:pt x="5813422" y="0"/>
                </a:lnTo>
                <a:lnTo>
                  <a:pt x="5813422" y="1298572"/>
                </a:lnTo>
                <a:lnTo>
                  <a:pt x="0" y="129857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96701" y="2258825"/>
            <a:ext cx="5301767" cy="637918"/>
          </a:xfrm>
          <a:custGeom>
            <a:avLst/>
            <a:gdLst/>
            <a:ahLst/>
            <a:cxnLst/>
            <a:rect r="r" b="b" t="t" l="l"/>
            <a:pathLst>
              <a:path h="637918" w="5301767">
                <a:moveTo>
                  <a:pt x="0" y="0"/>
                </a:moveTo>
                <a:lnTo>
                  <a:pt x="5301767" y="0"/>
                </a:lnTo>
                <a:lnTo>
                  <a:pt x="5301767" y="637918"/>
                </a:lnTo>
                <a:lnTo>
                  <a:pt x="0" y="63791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93672" y="2984497"/>
            <a:ext cx="5813422" cy="1041397"/>
          </a:xfrm>
          <a:custGeom>
            <a:avLst/>
            <a:gdLst/>
            <a:ahLst/>
            <a:cxnLst/>
            <a:rect r="r" b="b" t="t" l="l"/>
            <a:pathLst>
              <a:path h="1041397" w="5813422">
                <a:moveTo>
                  <a:pt x="0" y="0"/>
                </a:moveTo>
                <a:lnTo>
                  <a:pt x="5813422" y="0"/>
                </a:lnTo>
                <a:lnTo>
                  <a:pt x="5813422" y="1041397"/>
                </a:lnTo>
                <a:lnTo>
                  <a:pt x="0" y="104139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>
            <a:grpSpLocks noChangeAspect="true"/>
          </p:cNvGrpSpPr>
          <p:nvPr/>
        </p:nvGrpSpPr>
        <p:grpSpPr>
          <a:xfrm rot="0">
            <a:off x="6248400" y="1524000"/>
            <a:ext cx="5686425" cy="3810000"/>
            <a:chOff x="0" y="0"/>
            <a:chExt cx="7581900" cy="5080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581900" cy="5080000"/>
            </a:xfrm>
            <a:custGeom>
              <a:avLst/>
              <a:gdLst/>
              <a:ahLst/>
              <a:cxnLst/>
              <a:rect r="r" b="b" t="t" l="l"/>
              <a:pathLst>
                <a:path h="5080000" w="7581900">
                  <a:moveTo>
                    <a:pt x="135382" y="0"/>
                  </a:moveTo>
                  <a:cubicBezTo>
                    <a:pt x="60579" y="0"/>
                    <a:pt x="0" y="60579"/>
                    <a:pt x="0" y="135509"/>
                  </a:cubicBezTo>
                  <a:lnTo>
                    <a:pt x="0" y="4944491"/>
                  </a:lnTo>
                  <a:cubicBezTo>
                    <a:pt x="0" y="5019421"/>
                    <a:pt x="60579" y="5080000"/>
                    <a:pt x="135509" y="5080000"/>
                  </a:cubicBezTo>
                  <a:lnTo>
                    <a:pt x="7446391" y="5080000"/>
                  </a:lnTo>
                  <a:cubicBezTo>
                    <a:pt x="7521194" y="5080000"/>
                    <a:pt x="7581900" y="5019421"/>
                    <a:pt x="7581900" y="4944491"/>
                  </a:cubicBezTo>
                  <a:lnTo>
                    <a:pt x="7581900" y="135509"/>
                  </a:lnTo>
                  <a:cubicBezTo>
                    <a:pt x="7581900" y="60706"/>
                    <a:pt x="7521448" y="254"/>
                    <a:pt x="7446772" y="0"/>
                  </a:cubicBezTo>
                  <a:lnTo>
                    <a:pt x="7446772" y="0"/>
                  </a:lnTo>
                  <a:lnTo>
                    <a:pt x="135382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254317" y="1401299"/>
            <a:ext cx="4881420" cy="5482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6"/>
              </a:lnSpc>
            </a:pPr>
            <a:r>
              <a:rPr lang="en-US" sz="3004">
                <a:solidFill>
                  <a:srgbClr val="F0F0F0"/>
                </a:solidFill>
                <a:latin typeface="20db"/>
                <a:ea typeface="20db"/>
                <a:cs typeface="20db"/>
                <a:sym typeface="20db"/>
              </a:rPr>
              <a:t>Feature Influence Decoded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06718" y="3170977"/>
            <a:ext cx="2100996" cy="3295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3"/>
              </a:lnSpc>
            </a:pPr>
            <a:r>
              <a:rPr lang="en-US" sz="1802">
                <a:solidFill>
                  <a:srgbClr val="4A90E2"/>
                </a:solidFill>
                <a:latin typeface="210 8비트"/>
                <a:ea typeface="210 8비트"/>
                <a:cs typeface="210 8비트"/>
                <a:sym typeface="210 8비트"/>
              </a:rPr>
              <a:t>Top Clinical Drivers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06718" y="4229519"/>
            <a:ext cx="2329120" cy="3390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0"/>
              </a:lnSpc>
            </a:pPr>
            <a:r>
              <a:rPr lang="en-US" sz="1802" spc="3">
                <a:solidFill>
                  <a:srgbClr val="4A90E2"/>
                </a:solidFill>
                <a:latin typeface="210 8비트"/>
                <a:ea typeface="210 8비트"/>
                <a:cs typeface="210 8비트"/>
                <a:sym typeface="210 8비트"/>
              </a:rPr>
              <a:t>Lifestyle Contribution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826390" y="4567123"/>
            <a:ext cx="53626" cy="2708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5"/>
              </a:lnSpc>
            </a:pPr>
            <a:r>
              <a:rPr lang="en-US" sz="1427">
                <a:solidFill>
                  <a:srgbClr val="F0F0F0"/>
                </a:solidFill>
                <a:latin typeface="210 8비트"/>
                <a:ea typeface="210 8비트"/>
                <a:cs typeface="210 8비트"/>
                <a:sym typeface="210 8비트"/>
              </a:rPr>
              <a:t>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96365" y="4576648"/>
            <a:ext cx="1411481" cy="261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98"/>
              </a:lnSpc>
            </a:pPr>
            <a:r>
              <a:rPr lang="en-US" sz="1427">
                <a:solidFill>
                  <a:srgbClr val="F0F0F0"/>
                </a:solidFill>
                <a:latin typeface="210 8비트"/>
                <a:ea typeface="210 8비트"/>
                <a:cs typeface="210 8비트"/>
                <a:sym typeface="210 8비트"/>
              </a:rPr>
              <a:t>sleep</a:t>
            </a:r>
            <a:r>
              <a:rPr lang="en-US" sz="1427">
                <a:solidFill>
                  <a:srgbClr val="000000"/>
                </a:solidFill>
                <a:latin typeface="210 8비트"/>
                <a:ea typeface="210 8비트"/>
                <a:cs typeface="210 8비트"/>
                <a:sym typeface="210 8비트"/>
              </a:rPr>
              <a:t> </a:t>
            </a:r>
            <a:r>
              <a:rPr lang="en-US" sz="1427">
                <a:solidFill>
                  <a:srgbClr val="F0F0F0"/>
                </a:solidFill>
                <a:latin typeface="210 8비트"/>
                <a:ea typeface="210 8비트"/>
                <a:cs typeface="210 8비트"/>
                <a:sym typeface="210 8비트"/>
              </a:rPr>
              <a:t>irregularity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E12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2192000" cy="6858000"/>
          </a:xfrm>
          <a:custGeom>
            <a:avLst/>
            <a:gdLst/>
            <a:ahLst/>
            <a:cxnLst/>
            <a:rect r="r" b="b" t="t" l="l"/>
            <a:pathLst>
              <a:path h="6858000" w="12192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772650" y="1200150"/>
            <a:ext cx="2419350" cy="4305300"/>
          </a:xfrm>
          <a:custGeom>
            <a:avLst/>
            <a:gdLst/>
            <a:ahLst/>
            <a:cxnLst/>
            <a:rect r="r" b="b" t="t" l="l"/>
            <a:pathLst>
              <a:path h="4305300" w="2419350">
                <a:moveTo>
                  <a:pt x="0" y="0"/>
                </a:moveTo>
                <a:lnTo>
                  <a:pt x="2419350" y="0"/>
                </a:lnTo>
                <a:lnTo>
                  <a:pt x="2419350" y="4305300"/>
                </a:lnTo>
                <a:lnTo>
                  <a:pt x="0" y="43053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441447" y="1859804"/>
            <a:ext cx="4952429" cy="22013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48"/>
              </a:lnSpc>
            </a:pPr>
            <a:r>
              <a:rPr lang="en-US" sz="8034" spc="8">
                <a:solidFill>
                  <a:srgbClr val="218EC1"/>
                </a:solidFill>
                <a:latin typeface="210 8비트"/>
                <a:ea typeface="210 8비트"/>
                <a:cs typeface="210 8비트"/>
                <a:sym typeface="210 8비트"/>
              </a:rPr>
              <a:t>03</a:t>
            </a:r>
          </a:p>
          <a:p>
            <a:pPr algn="l">
              <a:lnSpc>
                <a:spcPts val="6201"/>
              </a:lnSpc>
            </a:pPr>
            <a:r>
              <a:rPr lang="en-US" sz="4429">
                <a:solidFill>
                  <a:srgbClr val="FFFFFF"/>
                </a:solidFill>
                <a:latin typeface="210 8비트"/>
                <a:ea typeface="210 8비트"/>
                <a:cs typeface="210 8비트"/>
                <a:sym typeface="210 8비트"/>
              </a:rPr>
              <a:t>Validation &amp; Ethics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018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772650" y="1200150"/>
            <a:ext cx="2419350" cy="4305300"/>
          </a:xfrm>
          <a:custGeom>
            <a:avLst/>
            <a:gdLst/>
            <a:ahLst/>
            <a:cxnLst/>
            <a:rect r="r" b="b" t="t" l="l"/>
            <a:pathLst>
              <a:path h="4305300" w="2419350">
                <a:moveTo>
                  <a:pt x="0" y="0"/>
                </a:moveTo>
                <a:lnTo>
                  <a:pt x="2419350" y="0"/>
                </a:lnTo>
                <a:lnTo>
                  <a:pt x="2419350" y="4305300"/>
                </a:lnTo>
                <a:lnTo>
                  <a:pt x="0" y="4305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12192000" cy="6858000"/>
          </a:xfrm>
          <a:custGeom>
            <a:avLst/>
            <a:gdLst/>
            <a:ahLst/>
            <a:cxnLst/>
            <a:rect r="r" b="b" t="t" l="l"/>
            <a:pathLst>
              <a:path h="6858000" w="12192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93672" y="1793872"/>
            <a:ext cx="3898897" cy="4032247"/>
          </a:xfrm>
          <a:custGeom>
            <a:avLst/>
            <a:gdLst/>
            <a:ahLst/>
            <a:cxnLst/>
            <a:rect r="r" b="b" t="t" l="l"/>
            <a:pathLst>
              <a:path h="4032247" w="3898897">
                <a:moveTo>
                  <a:pt x="0" y="0"/>
                </a:moveTo>
                <a:lnTo>
                  <a:pt x="3898897" y="0"/>
                </a:lnTo>
                <a:lnTo>
                  <a:pt x="3898897" y="4032247"/>
                </a:lnTo>
                <a:lnTo>
                  <a:pt x="0" y="403224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365622" y="1965322"/>
            <a:ext cx="7632697" cy="3689347"/>
          </a:xfrm>
          <a:custGeom>
            <a:avLst/>
            <a:gdLst/>
            <a:ahLst/>
            <a:cxnLst/>
            <a:rect r="r" b="b" t="t" l="l"/>
            <a:pathLst>
              <a:path h="3689347" w="7632697">
                <a:moveTo>
                  <a:pt x="0" y="0"/>
                </a:moveTo>
                <a:lnTo>
                  <a:pt x="7632697" y="0"/>
                </a:lnTo>
                <a:lnTo>
                  <a:pt x="7632697" y="3689347"/>
                </a:lnTo>
                <a:lnTo>
                  <a:pt x="0" y="368934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736599" y="918058"/>
            <a:ext cx="6865515" cy="5482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6"/>
              </a:lnSpc>
            </a:pPr>
            <a:r>
              <a:rPr lang="en-US" sz="3004" spc="3">
                <a:solidFill>
                  <a:srgbClr val="F0F0F0"/>
                </a:solidFill>
                <a:latin typeface="20db"/>
                <a:ea typeface="20db"/>
                <a:cs typeface="20db"/>
                <a:sym typeface="20db"/>
              </a:rPr>
              <a:t>External Validation: The Reality Check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80723" y="2090166"/>
            <a:ext cx="2982306" cy="363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8"/>
              </a:lnSpc>
            </a:pPr>
            <a:r>
              <a:rPr lang="en-US" sz="2027">
                <a:solidFill>
                  <a:srgbClr val="F0F0F0"/>
                </a:solidFill>
                <a:latin typeface="20db"/>
                <a:ea typeface="20db"/>
                <a:cs typeface="20db"/>
                <a:sym typeface="20db"/>
              </a:rPr>
              <a:t>Initial Performance Drop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735830" y="2344550"/>
            <a:ext cx="2731741" cy="363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8"/>
              </a:lnSpc>
            </a:pPr>
            <a:r>
              <a:rPr lang="en-US" sz="2027">
                <a:solidFill>
                  <a:srgbClr val="F0F0F0"/>
                </a:solidFill>
                <a:latin typeface="20db"/>
                <a:ea typeface="20db"/>
                <a:cs typeface="20db"/>
                <a:sym typeface="20db"/>
              </a:rPr>
              <a:t>Key Findings &amp; Actions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51271" y="1775793"/>
            <a:ext cx="1820332" cy="15365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415"/>
              </a:lnSpc>
            </a:pPr>
            <a:r>
              <a:rPr lang="en-US" sz="7209" spc="14">
                <a:solidFill>
                  <a:srgbClr val="4A90E2"/>
                </a:solidFill>
                <a:latin typeface="20db"/>
                <a:ea typeface="20db"/>
                <a:cs typeface="20db"/>
                <a:sym typeface="20db"/>
              </a:rPr>
              <a:t>0.91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51271" y="3352886"/>
            <a:ext cx="1820332" cy="15365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415"/>
              </a:lnSpc>
            </a:pPr>
            <a:r>
              <a:rPr lang="en-US" sz="7209" spc="14">
                <a:solidFill>
                  <a:srgbClr val="4A90E2"/>
                </a:solidFill>
                <a:latin typeface="20db"/>
                <a:ea typeface="20db"/>
                <a:cs typeface="20db"/>
                <a:sym typeface="20db"/>
              </a:rPr>
              <a:t>0.85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041984" y="3737772"/>
            <a:ext cx="59265" cy="303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82"/>
              </a:lnSpc>
            </a:pPr>
            <a:r>
              <a:rPr lang="en-US" sz="1577">
                <a:solidFill>
                  <a:srgbClr val="F0F0F0"/>
                </a:solidFill>
                <a:latin typeface="210 8비트"/>
                <a:ea typeface="210 8비트"/>
                <a:cs typeface="210 8비트"/>
                <a:sym typeface="210 8비트"/>
              </a:rPr>
              <a:t>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052698" y="4053107"/>
            <a:ext cx="1011155" cy="303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79"/>
              </a:lnSpc>
            </a:pPr>
            <a:r>
              <a:rPr lang="en-US" sz="1575" spc="7">
                <a:solidFill>
                  <a:srgbClr val="F0F0F0"/>
                </a:solidFill>
                <a:latin typeface="210 8비트"/>
                <a:ea typeface="210 8비트"/>
                <a:cs typeface="210 8비트"/>
                <a:sym typeface="210 8비트"/>
              </a:rPr>
              <a:t>objectives.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985004" y="2943377"/>
            <a:ext cx="6399047" cy="599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04"/>
              </a:lnSpc>
            </a:pPr>
            <a:r>
              <a:rPr lang="en-US" sz="1575" spc="11">
                <a:solidFill>
                  <a:srgbClr val="F0F0F0"/>
                </a:solidFill>
                <a:latin typeface="210 8비트"/>
                <a:ea typeface="210 8비트"/>
                <a:cs typeface="210 8비트"/>
                <a:sym typeface="210 8비트"/>
              </a:rPr>
              <a:t>Under-prediction in African ancestry cohorts linked to genetic and </a:t>
            </a:r>
          </a:p>
          <a:p>
            <a:pPr algn="l">
              <a:lnSpc>
                <a:spcPts val="3929"/>
              </a:lnSpc>
            </a:pPr>
            <a:r>
              <a:rPr lang="en-US" sz="1577" spc="11">
                <a:solidFill>
                  <a:srgbClr val="F0F0F0"/>
                </a:solidFill>
                <a:latin typeface="210 8비트"/>
                <a:ea typeface="210 8비트"/>
                <a:cs typeface="210 8비트"/>
                <a:sym typeface="210 8비트"/>
              </a:rPr>
              <a:t>socio-economic datagaps.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052698" y="3594897"/>
            <a:ext cx="6056881" cy="4467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9"/>
              </a:lnSpc>
            </a:pPr>
            <a:r>
              <a:rPr lang="en-US" sz="1577" spc="9">
                <a:solidFill>
                  <a:srgbClr val="F0F0F0"/>
                </a:solidFill>
                <a:latin typeface="210 8비트"/>
                <a:ea typeface="210 8비트"/>
                <a:cs typeface="210 8비트"/>
                <a:sym typeface="210 8비트"/>
              </a:rPr>
              <a:t>Addressedvia site-specific retraining and fairness-constrained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008626" y="4551845"/>
            <a:ext cx="6193212" cy="6184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76"/>
              </a:lnSpc>
            </a:pPr>
            <a:r>
              <a:rPr lang="en-US" sz="1577" spc="9">
                <a:solidFill>
                  <a:srgbClr val="F0F0F0"/>
                </a:solidFill>
                <a:latin typeface="210 8비트"/>
                <a:ea typeface="210 8비트"/>
                <a:cs typeface="210 8비트"/>
                <a:sym typeface="210 8비트"/>
              </a:rPr>
              <a:t>Model was successfully calibrated using Platt scaling for reliable probability estimates.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018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772650" y="1200150"/>
            <a:ext cx="2419350" cy="4305300"/>
          </a:xfrm>
          <a:custGeom>
            <a:avLst/>
            <a:gdLst/>
            <a:ahLst/>
            <a:cxnLst/>
            <a:rect r="r" b="b" t="t" l="l"/>
            <a:pathLst>
              <a:path h="4305300" w="2419350">
                <a:moveTo>
                  <a:pt x="0" y="0"/>
                </a:moveTo>
                <a:lnTo>
                  <a:pt x="2419350" y="0"/>
                </a:lnTo>
                <a:lnTo>
                  <a:pt x="2419350" y="4305300"/>
                </a:lnTo>
                <a:lnTo>
                  <a:pt x="0" y="4305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12192000" cy="6858000"/>
          </a:xfrm>
          <a:custGeom>
            <a:avLst/>
            <a:gdLst/>
            <a:ahLst/>
            <a:cxnLst/>
            <a:rect r="r" b="b" t="t" l="l"/>
            <a:pathLst>
              <a:path h="6858000" w="12192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00122" y="3324482"/>
            <a:ext cx="2233984" cy="558670"/>
          </a:xfrm>
          <a:custGeom>
            <a:avLst/>
            <a:gdLst/>
            <a:ahLst/>
            <a:cxnLst/>
            <a:rect r="r" b="b" t="t" l="l"/>
            <a:pathLst>
              <a:path h="558670" w="2233984">
                <a:moveTo>
                  <a:pt x="0" y="0"/>
                </a:moveTo>
                <a:lnTo>
                  <a:pt x="2233984" y="0"/>
                </a:lnTo>
                <a:lnTo>
                  <a:pt x="2233984" y="558670"/>
                </a:lnTo>
                <a:lnTo>
                  <a:pt x="0" y="55867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667375" y="2609783"/>
            <a:ext cx="857183" cy="476421"/>
          </a:xfrm>
          <a:custGeom>
            <a:avLst/>
            <a:gdLst/>
            <a:ahLst/>
            <a:cxnLst/>
            <a:rect r="r" b="b" t="t" l="l"/>
            <a:pathLst>
              <a:path h="476421" w="857183">
                <a:moveTo>
                  <a:pt x="0" y="0"/>
                </a:moveTo>
                <a:lnTo>
                  <a:pt x="857183" y="0"/>
                </a:lnTo>
                <a:lnTo>
                  <a:pt x="857183" y="476422"/>
                </a:lnTo>
                <a:lnTo>
                  <a:pt x="0" y="47642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241292" y="3511801"/>
            <a:ext cx="3716274" cy="476126"/>
          </a:xfrm>
          <a:custGeom>
            <a:avLst/>
            <a:gdLst/>
            <a:ahLst/>
            <a:cxnLst/>
            <a:rect r="r" b="b" t="t" l="l"/>
            <a:pathLst>
              <a:path h="476126" w="3716274">
                <a:moveTo>
                  <a:pt x="0" y="0"/>
                </a:moveTo>
                <a:lnTo>
                  <a:pt x="3716274" y="0"/>
                </a:lnTo>
                <a:lnTo>
                  <a:pt x="3716274" y="476126"/>
                </a:lnTo>
                <a:lnTo>
                  <a:pt x="0" y="47612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93672" y="4175122"/>
            <a:ext cx="11804647" cy="1146172"/>
          </a:xfrm>
          <a:custGeom>
            <a:avLst/>
            <a:gdLst/>
            <a:ahLst/>
            <a:cxnLst/>
            <a:rect r="r" b="b" t="t" l="l"/>
            <a:pathLst>
              <a:path h="1146172" w="11804647">
                <a:moveTo>
                  <a:pt x="0" y="0"/>
                </a:moveTo>
                <a:lnTo>
                  <a:pt x="11804647" y="0"/>
                </a:lnTo>
                <a:lnTo>
                  <a:pt x="11804647" y="1146172"/>
                </a:lnTo>
                <a:lnTo>
                  <a:pt x="0" y="1146172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382249" y="3515992"/>
            <a:ext cx="1609601" cy="174498"/>
          </a:xfrm>
          <a:custGeom>
            <a:avLst/>
            <a:gdLst/>
            <a:ahLst/>
            <a:cxnLst/>
            <a:rect r="r" b="b" t="t" l="l"/>
            <a:pathLst>
              <a:path h="174498" w="1609601">
                <a:moveTo>
                  <a:pt x="0" y="0"/>
                </a:moveTo>
                <a:lnTo>
                  <a:pt x="1609601" y="0"/>
                </a:lnTo>
                <a:lnTo>
                  <a:pt x="1609601" y="174498"/>
                </a:lnTo>
                <a:lnTo>
                  <a:pt x="0" y="174498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898011" y="1427474"/>
            <a:ext cx="4489190" cy="5478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3"/>
              </a:lnSpc>
            </a:pPr>
            <a:r>
              <a:rPr lang="en-US" sz="3002" spc="3">
                <a:solidFill>
                  <a:srgbClr val="F0F0F0"/>
                </a:solidFill>
                <a:latin typeface="20db"/>
                <a:ea typeface="20db"/>
                <a:cs typeface="20db"/>
                <a:sym typeface="20db"/>
              </a:rPr>
              <a:t>Bias Mitigation Playbook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33802" y="2080098"/>
            <a:ext cx="1581321" cy="10961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10"/>
              </a:lnSpc>
            </a:pPr>
            <a:r>
              <a:rPr lang="en-US" sz="6007">
                <a:solidFill>
                  <a:srgbClr val="8C96A8"/>
                </a:solidFill>
                <a:latin typeface="20db"/>
                <a:ea typeface="20db"/>
                <a:cs typeface="20db"/>
                <a:sym typeface="20db"/>
              </a:rPr>
              <a:t>18%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628508" y="2080098"/>
            <a:ext cx="1154249" cy="10961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10"/>
              </a:lnSpc>
            </a:pPr>
            <a:r>
              <a:rPr lang="en-US" sz="6007" spc="42">
                <a:solidFill>
                  <a:srgbClr val="4A90E2"/>
                </a:solidFill>
                <a:latin typeface="20db"/>
                <a:ea typeface="20db"/>
                <a:cs typeface="20db"/>
                <a:sym typeface="20db"/>
              </a:rPr>
              <a:t>4%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118735" y="3304956"/>
            <a:ext cx="1994859" cy="2848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08"/>
              </a:lnSpc>
            </a:pPr>
            <a:r>
              <a:rPr lang="en-US" sz="1577" spc="12">
                <a:solidFill>
                  <a:srgbClr val="F0F0F0"/>
                </a:solidFill>
                <a:latin typeface="210 8비트"/>
                <a:ea typeface="210 8비트"/>
                <a:cs typeface="210 8비트"/>
                <a:sym typeface="210 8비트"/>
              </a:rPr>
              <a:t>Mitigation Strategies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912147" y="4399436"/>
            <a:ext cx="59169" cy="303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74"/>
              </a:lnSpc>
            </a:pPr>
            <a:r>
              <a:rPr lang="en-US" sz="1575">
                <a:solidFill>
                  <a:srgbClr val="F0F0F0"/>
                </a:solidFill>
                <a:latin typeface="210 8비트"/>
                <a:ea typeface="210 8비트"/>
                <a:cs typeface="210 8비트"/>
                <a:sym typeface="210 8비트"/>
              </a:rPr>
              <a:t> 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455538" y="4713770"/>
            <a:ext cx="3356639" cy="303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78"/>
              </a:lnSpc>
            </a:pPr>
            <a:r>
              <a:rPr lang="en-US" sz="1577" spc="11">
                <a:solidFill>
                  <a:srgbClr val="F0F0F0"/>
                </a:solidFill>
                <a:latin typeface="210 8비트"/>
                <a:ea typeface="210 8비트"/>
                <a:cs typeface="210 8비트"/>
                <a:sym typeface="210 8비트"/>
              </a:rPr>
              <a:t>does not widen existing disparities.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93407" y="4418486"/>
            <a:ext cx="11282724" cy="2844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04"/>
              </a:lnSpc>
            </a:pPr>
            <a:r>
              <a:rPr lang="en-US" sz="1575" spc="7">
                <a:solidFill>
                  <a:srgbClr val="F0F0F0"/>
                </a:solidFill>
                <a:latin typeface="210 8비트"/>
                <a:ea typeface="210 8비트"/>
                <a:cs typeface="210 8비트"/>
                <a:sym typeface="210 8비트"/>
              </a:rPr>
              <a:t>A dedicated governance committee mandatescontinuousmonitoringtoensure the model supports health equity and 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E12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2192000" cy="6858000"/>
          </a:xfrm>
          <a:custGeom>
            <a:avLst/>
            <a:gdLst/>
            <a:ahLst/>
            <a:cxnLst/>
            <a:rect r="r" b="b" t="t" l="l"/>
            <a:pathLst>
              <a:path h="6858000" w="12192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772650" y="1200150"/>
            <a:ext cx="2419350" cy="4305300"/>
          </a:xfrm>
          <a:custGeom>
            <a:avLst/>
            <a:gdLst/>
            <a:ahLst/>
            <a:cxnLst/>
            <a:rect r="r" b="b" t="t" l="l"/>
            <a:pathLst>
              <a:path h="4305300" w="2419350">
                <a:moveTo>
                  <a:pt x="0" y="0"/>
                </a:moveTo>
                <a:lnTo>
                  <a:pt x="2419350" y="0"/>
                </a:lnTo>
                <a:lnTo>
                  <a:pt x="2419350" y="4305300"/>
                </a:lnTo>
                <a:lnTo>
                  <a:pt x="0" y="43053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441447" y="2097929"/>
            <a:ext cx="5278384" cy="19632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782"/>
              </a:lnSpc>
            </a:pPr>
            <a:r>
              <a:rPr lang="en-US" sz="8034" spc="8">
                <a:solidFill>
                  <a:srgbClr val="218EC1"/>
                </a:solidFill>
                <a:latin typeface="210 8비트"/>
                <a:ea typeface="210 8비트"/>
                <a:cs typeface="210 8비트"/>
                <a:sym typeface="210 8비트"/>
              </a:rPr>
              <a:t>04</a:t>
            </a:r>
          </a:p>
          <a:p>
            <a:pPr algn="l">
              <a:lnSpc>
                <a:spcPts val="6201"/>
              </a:lnSpc>
            </a:pPr>
            <a:r>
              <a:rPr lang="en-US" sz="4429">
                <a:solidFill>
                  <a:srgbClr val="FFFFFF"/>
                </a:solidFill>
                <a:latin typeface="210 8비트"/>
                <a:ea typeface="210 8비트"/>
                <a:cs typeface="210 8비트"/>
                <a:sym typeface="210 8비트"/>
              </a:rPr>
              <a:t>Clinical Deployment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307623" y="3113713"/>
            <a:ext cx="166421" cy="9690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93"/>
              </a:lnSpc>
            </a:pPr>
            <a:r>
              <a:rPr lang="en-US" sz="4429">
                <a:solidFill>
                  <a:srgbClr val="FFFFFF"/>
                </a:solidFill>
                <a:latin typeface="210 8비트"/>
                <a:ea typeface="210 8비트"/>
                <a:cs typeface="210 8비트"/>
                <a:sym typeface="210 8비트"/>
              </a:rPr>
              <a:t> 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018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772650" y="1200150"/>
            <a:ext cx="2419350" cy="4305300"/>
          </a:xfrm>
          <a:custGeom>
            <a:avLst/>
            <a:gdLst/>
            <a:ahLst/>
            <a:cxnLst/>
            <a:rect r="r" b="b" t="t" l="l"/>
            <a:pathLst>
              <a:path h="4305300" w="2419350">
                <a:moveTo>
                  <a:pt x="0" y="0"/>
                </a:moveTo>
                <a:lnTo>
                  <a:pt x="2419350" y="0"/>
                </a:lnTo>
                <a:lnTo>
                  <a:pt x="2419350" y="4305300"/>
                </a:lnTo>
                <a:lnTo>
                  <a:pt x="0" y="4305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12192000" cy="6858000"/>
          </a:xfrm>
          <a:custGeom>
            <a:avLst/>
            <a:gdLst/>
            <a:ahLst/>
            <a:cxnLst/>
            <a:rect r="r" b="b" t="t" l="l"/>
            <a:pathLst>
              <a:path h="6858000" w="12192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257175" y="257175"/>
            <a:ext cx="5638800" cy="6343650"/>
            <a:chOff x="0" y="0"/>
            <a:chExt cx="7518400" cy="8458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518400" cy="8458200"/>
            </a:xfrm>
            <a:custGeom>
              <a:avLst/>
              <a:gdLst/>
              <a:ahLst/>
              <a:cxnLst/>
              <a:rect r="r" b="b" t="t" l="l"/>
              <a:pathLst>
                <a:path h="8458200" w="7518400">
                  <a:moveTo>
                    <a:pt x="135509" y="0"/>
                  </a:moveTo>
                  <a:cubicBezTo>
                    <a:pt x="60706" y="0"/>
                    <a:pt x="0" y="60579"/>
                    <a:pt x="0" y="135509"/>
                  </a:cubicBezTo>
                  <a:lnTo>
                    <a:pt x="0" y="8322691"/>
                  </a:lnTo>
                  <a:cubicBezTo>
                    <a:pt x="0" y="8397494"/>
                    <a:pt x="60706" y="8458200"/>
                    <a:pt x="135509" y="8458200"/>
                  </a:cubicBezTo>
                  <a:lnTo>
                    <a:pt x="7382891" y="8458200"/>
                  </a:lnTo>
                  <a:cubicBezTo>
                    <a:pt x="7457694" y="8458200"/>
                    <a:pt x="7518400" y="8397494"/>
                    <a:pt x="7518400" y="8322691"/>
                  </a:cubicBezTo>
                  <a:lnTo>
                    <a:pt x="7518400" y="135509"/>
                  </a:lnTo>
                  <a:cubicBezTo>
                    <a:pt x="7518400" y="60579"/>
                    <a:pt x="7457821" y="0"/>
                    <a:pt x="7382891" y="0"/>
                  </a:cubicBez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6240275" y="1669542"/>
            <a:ext cx="5634990" cy="918848"/>
          </a:xfrm>
          <a:custGeom>
            <a:avLst/>
            <a:gdLst/>
            <a:ahLst/>
            <a:cxnLst/>
            <a:rect r="r" b="b" t="t" l="l"/>
            <a:pathLst>
              <a:path h="918848" w="5634990">
                <a:moveTo>
                  <a:pt x="0" y="0"/>
                </a:moveTo>
                <a:lnTo>
                  <a:pt x="5634990" y="0"/>
                </a:lnTo>
                <a:lnTo>
                  <a:pt x="5634990" y="918848"/>
                </a:lnTo>
                <a:lnTo>
                  <a:pt x="0" y="91884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232522" y="3870322"/>
            <a:ext cx="5765797" cy="993772"/>
          </a:xfrm>
          <a:custGeom>
            <a:avLst/>
            <a:gdLst/>
            <a:ahLst/>
            <a:cxnLst/>
            <a:rect r="r" b="b" t="t" l="l"/>
            <a:pathLst>
              <a:path h="993772" w="5765797">
                <a:moveTo>
                  <a:pt x="0" y="0"/>
                </a:moveTo>
                <a:lnTo>
                  <a:pt x="5765797" y="0"/>
                </a:lnTo>
                <a:lnTo>
                  <a:pt x="5765797" y="993772"/>
                </a:lnTo>
                <a:lnTo>
                  <a:pt x="0" y="99377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232522" y="2803522"/>
            <a:ext cx="5765797" cy="993772"/>
          </a:xfrm>
          <a:custGeom>
            <a:avLst/>
            <a:gdLst/>
            <a:ahLst/>
            <a:cxnLst/>
            <a:rect r="r" b="b" t="t" l="l"/>
            <a:pathLst>
              <a:path h="993772" w="5765797">
                <a:moveTo>
                  <a:pt x="0" y="0"/>
                </a:moveTo>
                <a:lnTo>
                  <a:pt x="5765797" y="0"/>
                </a:lnTo>
                <a:lnTo>
                  <a:pt x="5765797" y="993772"/>
                </a:lnTo>
                <a:lnTo>
                  <a:pt x="0" y="99377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6232522" y="4937122"/>
            <a:ext cx="5765797" cy="993772"/>
          </a:xfrm>
          <a:custGeom>
            <a:avLst/>
            <a:gdLst/>
            <a:ahLst/>
            <a:cxnLst/>
            <a:rect r="r" b="b" t="t" l="l"/>
            <a:pathLst>
              <a:path h="993772" w="5765797">
                <a:moveTo>
                  <a:pt x="0" y="0"/>
                </a:moveTo>
                <a:lnTo>
                  <a:pt x="5765797" y="0"/>
                </a:lnTo>
                <a:lnTo>
                  <a:pt x="5765797" y="993772"/>
                </a:lnTo>
                <a:lnTo>
                  <a:pt x="0" y="99377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6304026" y="816464"/>
            <a:ext cx="4803181" cy="5482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6"/>
              </a:lnSpc>
            </a:pPr>
            <a:r>
              <a:rPr lang="en-US" sz="3004" spc="3">
                <a:solidFill>
                  <a:srgbClr val="F0F0F0"/>
                </a:solidFill>
                <a:latin typeface="20db"/>
                <a:ea typeface="20db"/>
                <a:cs typeface="20db"/>
                <a:sym typeface="20db"/>
              </a:rPr>
              <a:t>Real-Time CDS Integration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837931" y="4068232"/>
            <a:ext cx="1630299" cy="2848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08"/>
              </a:lnSpc>
            </a:pPr>
            <a:r>
              <a:rPr lang="en-US" sz="1577" spc="11">
                <a:solidFill>
                  <a:srgbClr val="F0F0F0"/>
                </a:solidFill>
                <a:latin typeface="210 8비트"/>
                <a:ea typeface="210 8비트"/>
                <a:cs typeface="210 8비트"/>
                <a:sym typeface="210 8비트"/>
              </a:rPr>
              <a:t>Actionable Alerts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837931" y="5136423"/>
            <a:ext cx="2023453" cy="2848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08"/>
              </a:lnSpc>
            </a:pPr>
            <a:r>
              <a:rPr lang="en-US" sz="1577" spc="15">
                <a:solidFill>
                  <a:srgbClr val="F0F0F0"/>
                </a:solidFill>
                <a:latin typeface="210 8비트"/>
                <a:ea typeface="210 8비트"/>
                <a:cs typeface="210 8비트"/>
                <a:sym typeface="210 8비트"/>
              </a:rPr>
              <a:t>Auto-Documentation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837931" y="2999908"/>
            <a:ext cx="2180815" cy="2848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08"/>
              </a:lnSpc>
            </a:pPr>
            <a:r>
              <a:rPr lang="en-US" sz="1577" spc="14">
                <a:solidFill>
                  <a:srgbClr val="F0F0F0"/>
                </a:solidFill>
                <a:latin typeface="210 8비트"/>
                <a:ea typeface="210 8비트"/>
                <a:cs typeface="210 8비트"/>
                <a:sym typeface="210 8비트"/>
              </a:rPr>
              <a:t>200ms Response Time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018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772650" y="1200150"/>
            <a:ext cx="2419350" cy="4305300"/>
          </a:xfrm>
          <a:custGeom>
            <a:avLst/>
            <a:gdLst/>
            <a:ahLst/>
            <a:cxnLst/>
            <a:rect r="r" b="b" t="t" l="l"/>
            <a:pathLst>
              <a:path h="4305300" w="2419350">
                <a:moveTo>
                  <a:pt x="0" y="0"/>
                </a:moveTo>
                <a:lnTo>
                  <a:pt x="2419350" y="0"/>
                </a:lnTo>
                <a:lnTo>
                  <a:pt x="2419350" y="4305300"/>
                </a:lnTo>
                <a:lnTo>
                  <a:pt x="0" y="4305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12192000" cy="6858000"/>
          </a:xfrm>
          <a:custGeom>
            <a:avLst/>
            <a:gdLst/>
            <a:ahLst/>
            <a:cxnLst/>
            <a:rect r="r" b="b" t="t" l="l"/>
            <a:pathLst>
              <a:path h="6858000" w="12192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93672" y="2451097"/>
            <a:ext cx="3822697" cy="2717797"/>
          </a:xfrm>
          <a:custGeom>
            <a:avLst/>
            <a:gdLst/>
            <a:ahLst/>
            <a:cxnLst/>
            <a:rect r="r" b="b" t="t" l="l"/>
            <a:pathLst>
              <a:path h="2717797" w="3822697">
                <a:moveTo>
                  <a:pt x="0" y="0"/>
                </a:moveTo>
                <a:lnTo>
                  <a:pt x="3822697" y="0"/>
                </a:lnTo>
                <a:lnTo>
                  <a:pt x="3822697" y="2717797"/>
                </a:lnTo>
                <a:lnTo>
                  <a:pt x="0" y="271779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184647" y="2451097"/>
            <a:ext cx="3822697" cy="2717797"/>
          </a:xfrm>
          <a:custGeom>
            <a:avLst/>
            <a:gdLst/>
            <a:ahLst/>
            <a:cxnLst/>
            <a:rect r="r" b="b" t="t" l="l"/>
            <a:pathLst>
              <a:path h="2717797" w="3822697">
                <a:moveTo>
                  <a:pt x="0" y="0"/>
                </a:moveTo>
                <a:lnTo>
                  <a:pt x="3822697" y="0"/>
                </a:lnTo>
                <a:lnTo>
                  <a:pt x="3822697" y="2717797"/>
                </a:lnTo>
                <a:lnTo>
                  <a:pt x="0" y="271779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8185147" y="2574922"/>
            <a:ext cx="3822697" cy="2470147"/>
          </a:xfrm>
          <a:custGeom>
            <a:avLst/>
            <a:gdLst/>
            <a:ahLst/>
            <a:cxnLst/>
            <a:rect r="r" b="b" t="t" l="l"/>
            <a:pathLst>
              <a:path h="2470147" w="3822697">
                <a:moveTo>
                  <a:pt x="0" y="0"/>
                </a:moveTo>
                <a:lnTo>
                  <a:pt x="3822697" y="0"/>
                </a:lnTo>
                <a:lnTo>
                  <a:pt x="3822697" y="2470147"/>
                </a:lnTo>
                <a:lnTo>
                  <a:pt x="0" y="247014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741420" y="1579350"/>
            <a:ext cx="4814849" cy="5482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6"/>
              </a:lnSpc>
            </a:pPr>
            <a:r>
              <a:rPr lang="en-US" sz="3004" spc="3">
                <a:solidFill>
                  <a:srgbClr val="F0F0F0"/>
                </a:solidFill>
                <a:latin typeface="20db"/>
                <a:ea typeface="20db"/>
                <a:cs typeface="20db"/>
                <a:sym typeface="20db"/>
              </a:rPr>
              <a:t>Driving Frontline Adoption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06503" y="3514087"/>
            <a:ext cx="1830505" cy="363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41"/>
              </a:lnSpc>
            </a:pPr>
            <a:r>
              <a:rPr lang="en-US" sz="2029">
                <a:solidFill>
                  <a:srgbClr val="F0F0F0"/>
                </a:solidFill>
                <a:latin typeface="20db"/>
                <a:ea typeface="20db"/>
                <a:cs typeface="20db"/>
                <a:sym typeface="20db"/>
              </a:rPr>
              <a:t>78% Trust Rate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797676" y="3514087"/>
            <a:ext cx="2657532" cy="363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41"/>
              </a:lnSpc>
            </a:pPr>
            <a:r>
              <a:rPr lang="en-US" sz="2029">
                <a:solidFill>
                  <a:srgbClr val="F0F0F0"/>
                </a:solidFill>
                <a:latin typeface="20db"/>
                <a:ea typeface="20db"/>
                <a:cs typeface="20db"/>
                <a:sym typeface="20db"/>
              </a:rPr>
              <a:t>Training &amp; Safeguards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204322" y="3641855"/>
            <a:ext cx="1833772" cy="363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8"/>
              </a:lnSpc>
            </a:pPr>
            <a:r>
              <a:rPr lang="en-US" sz="2027">
                <a:solidFill>
                  <a:srgbClr val="F0F0F0"/>
                </a:solidFill>
                <a:latin typeface="20db"/>
                <a:ea typeface="20db"/>
                <a:cs typeface="20db"/>
                <a:sym typeface="20db"/>
              </a:rPr>
              <a:t>15% Reduction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E12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2192000" cy="6858000"/>
          </a:xfrm>
          <a:custGeom>
            <a:avLst/>
            <a:gdLst/>
            <a:ahLst/>
            <a:cxnLst/>
            <a:rect r="r" b="b" t="t" l="l"/>
            <a:pathLst>
              <a:path h="6858000" w="12192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772650" y="1200150"/>
            <a:ext cx="2419350" cy="4305300"/>
          </a:xfrm>
          <a:custGeom>
            <a:avLst/>
            <a:gdLst/>
            <a:ahLst/>
            <a:cxnLst/>
            <a:rect r="r" b="b" t="t" l="l"/>
            <a:pathLst>
              <a:path h="4305300" w="2419350">
                <a:moveTo>
                  <a:pt x="0" y="0"/>
                </a:moveTo>
                <a:lnTo>
                  <a:pt x="2419350" y="0"/>
                </a:lnTo>
                <a:lnTo>
                  <a:pt x="2419350" y="4305300"/>
                </a:lnTo>
                <a:lnTo>
                  <a:pt x="0" y="43053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441447" y="2097929"/>
            <a:ext cx="5401761" cy="19632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782"/>
              </a:lnSpc>
            </a:pPr>
            <a:r>
              <a:rPr lang="en-US" sz="8034" spc="8">
                <a:solidFill>
                  <a:srgbClr val="218EC1"/>
                </a:solidFill>
                <a:latin typeface="210 8비트"/>
                <a:ea typeface="210 8비트"/>
                <a:cs typeface="210 8비트"/>
                <a:sym typeface="210 8비트"/>
              </a:rPr>
              <a:t>05</a:t>
            </a:r>
          </a:p>
          <a:p>
            <a:pPr algn="l">
              <a:lnSpc>
                <a:spcPts val="6201"/>
              </a:lnSpc>
            </a:pPr>
            <a:r>
              <a:rPr lang="en-US" sz="4429">
                <a:solidFill>
                  <a:srgbClr val="FFFFFF"/>
                </a:solidFill>
                <a:latin typeface="210 8비트"/>
                <a:ea typeface="210 8비트"/>
                <a:cs typeface="210 8비트"/>
                <a:sym typeface="210 8비트"/>
              </a:rPr>
              <a:t>Impact&amp; Next Steps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204667" y="3113713"/>
            <a:ext cx="166421" cy="9690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93"/>
              </a:lnSpc>
            </a:pPr>
            <a:r>
              <a:rPr lang="en-US" sz="4429">
                <a:solidFill>
                  <a:srgbClr val="FFFFFF"/>
                </a:solidFill>
                <a:latin typeface="210 8비트"/>
                <a:ea typeface="210 8비트"/>
                <a:cs typeface="210 8비트"/>
                <a:sym typeface="210 8비트"/>
              </a:rPr>
              <a:t> 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018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772650" y="1200150"/>
            <a:ext cx="2419350" cy="4305300"/>
          </a:xfrm>
          <a:custGeom>
            <a:avLst/>
            <a:gdLst/>
            <a:ahLst/>
            <a:cxnLst/>
            <a:rect r="r" b="b" t="t" l="l"/>
            <a:pathLst>
              <a:path h="4305300" w="2419350">
                <a:moveTo>
                  <a:pt x="0" y="0"/>
                </a:moveTo>
                <a:lnTo>
                  <a:pt x="2419350" y="0"/>
                </a:lnTo>
                <a:lnTo>
                  <a:pt x="2419350" y="4305300"/>
                </a:lnTo>
                <a:lnTo>
                  <a:pt x="0" y="4305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12192000" cy="6858000"/>
          </a:xfrm>
          <a:custGeom>
            <a:avLst/>
            <a:gdLst/>
            <a:ahLst/>
            <a:cxnLst/>
            <a:rect r="r" b="b" t="t" l="l"/>
            <a:pathLst>
              <a:path h="6858000" w="12192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255194" y="2295020"/>
            <a:ext cx="1148410" cy="155067"/>
            <a:chOff x="0" y="0"/>
            <a:chExt cx="1148410" cy="15506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48461" cy="155067"/>
            </a:xfrm>
            <a:custGeom>
              <a:avLst/>
              <a:gdLst/>
              <a:ahLst/>
              <a:cxnLst/>
              <a:rect r="r" b="b" t="t" l="l"/>
              <a:pathLst>
                <a:path h="155067" w="1148461">
                  <a:moveTo>
                    <a:pt x="35179" y="150749"/>
                  </a:moveTo>
                  <a:lnTo>
                    <a:pt x="0" y="44831"/>
                  </a:lnTo>
                  <a:lnTo>
                    <a:pt x="18161" y="44831"/>
                  </a:lnTo>
                  <a:lnTo>
                    <a:pt x="43561" y="128270"/>
                  </a:lnTo>
                  <a:lnTo>
                    <a:pt x="44577" y="128270"/>
                  </a:lnTo>
                  <a:lnTo>
                    <a:pt x="69469" y="44831"/>
                  </a:lnTo>
                  <a:lnTo>
                    <a:pt x="87376" y="44831"/>
                  </a:lnTo>
                  <a:lnTo>
                    <a:pt x="112649" y="128270"/>
                  </a:lnTo>
                  <a:lnTo>
                    <a:pt x="113665" y="128270"/>
                  </a:lnTo>
                  <a:lnTo>
                    <a:pt x="138811" y="44831"/>
                  </a:lnTo>
                  <a:lnTo>
                    <a:pt x="156972" y="44831"/>
                  </a:lnTo>
                  <a:lnTo>
                    <a:pt x="122047" y="150749"/>
                  </a:lnTo>
                  <a:lnTo>
                    <a:pt x="104013" y="150749"/>
                  </a:lnTo>
                  <a:lnTo>
                    <a:pt x="78994" y="67183"/>
                  </a:lnTo>
                  <a:lnTo>
                    <a:pt x="77978" y="67183"/>
                  </a:lnTo>
                  <a:lnTo>
                    <a:pt x="53213" y="150749"/>
                  </a:lnTo>
                  <a:close/>
                  <a:moveTo>
                    <a:pt x="196977" y="11430"/>
                  </a:moveTo>
                  <a:cubicBezTo>
                    <a:pt x="196977" y="14859"/>
                    <a:pt x="195961" y="17653"/>
                    <a:pt x="193802" y="19558"/>
                  </a:cubicBezTo>
                  <a:cubicBezTo>
                    <a:pt x="191643" y="21590"/>
                    <a:pt x="188849" y="22606"/>
                    <a:pt x="185420" y="22606"/>
                  </a:cubicBezTo>
                  <a:cubicBezTo>
                    <a:pt x="181991" y="22606"/>
                    <a:pt x="179197" y="21590"/>
                    <a:pt x="177292" y="19558"/>
                  </a:cubicBezTo>
                  <a:cubicBezTo>
                    <a:pt x="175387" y="17653"/>
                    <a:pt x="174371" y="14859"/>
                    <a:pt x="174371" y="11430"/>
                  </a:cubicBezTo>
                  <a:cubicBezTo>
                    <a:pt x="174371" y="8001"/>
                    <a:pt x="175387" y="5207"/>
                    <a:pt x="177419" y="3048"/>
                  </a:cubicBezTo>
                  <a:cubicBezTo>
                    <a:pt x="179451" y="889"/>
                    <a:pt x="182118" y="0"/>
                    <a:pt x="185420" y="0"/>
                  </a:cubicBezTo>
                  <a:cubicBezTo>
                    <a:pt x="188849" y="0"/>
                    <a:pt x="191643" y="1016"/>
                    <a:pt x="193802" y="3048"/>
                  </a:cubicBezTo>
                  <a:cubicBezTo>
                    <a:pt x="195961" y="5080"/>
                    <a:pt x="196977" y="7874"/>
                    <a:pt x="196977" y="11430"/>
                  </a:cubicBezTo>
                  <a:close/>
                  <a:moveTo>
                    <a:pt x="193929" y="44831"/>
                  </a:moveTo>
                  <a:lnTo>
                    <a:pt x="193929" y="150749"/>
                  </a:lnTo>
                  <a:lnTo>
                    <a:pt x="177292" y="150749"/>
                  </a:lnTo>
                  <a:lnTo>
                    <a:pt x="177292" y="44831"/>
                  </a:lnTo>
                  <a:close/>
                  <a:moveTo>
                    <a:pt x="313817" y="150749"/>
                  </a:moveTo>
                  <a:lnTo>
                    <a:pt x="297180" y="150749"/>
                  </a:lnTo>
                  <a:lnTo>
                    <a:pt x="297180" y="135636"/>
                  </a:lnTo>
                  <a:lnTo>
                    <a:pt x="295910" y="135636"/>
                  </a:lnTo>
                  <a:cubicBezTo>
                    <a:pt x="292481" y="141351"/>
                    <a:pt x="287909" y="145796"/>
                    <a:pt x="282067" y="148971"/>
                  </a:cubicBezTo>
                  <a:cubicBezTo>
                    <a:pt x="276352" y="152019"/>
                    <a:pt x="270002" y="153670"/>
                    <a:pt x="263017" y="153670"/>
                  </a:cubicBezTo>
                  <a:cubicBezTo>
                    <a:pt x="254381" y="153670"/>
                    <a:pt x="246507" y="151130"/>
                    <a:pt x="239649" y="146177"/>
                  </a:cubicBezTo>
                  <a:cubicBezTo>
                    <a:pt x="232791" y="141224"/>
                    <a:pt x="227330" y="134493"/>
                    <a:pt x="223393" y="125857"/>
                  </a:cubicBezTo>
                  <a:cubicBezTo>
                    <a:pt x="219456" y="117094"/>
                    <a:pt x="217424" y="107442"/>
                    <a:pt x="217424" y="96647"/>
                  </a:cubicBezTo>
                  <a:cubicBezTo>
                    <a:pt x="217424" y="86106"/>
                    <a:pt x="219456" y="76581"/>
                    <a:pt x="223393" y="68326"/>
                  </a:cubicBezTo>
                  <a:cubicBezTo>
                    <a:pt x="227330" y="59944"/>
                    <a:pt x="232791" y="53467"/>
                    <a:pt x="239649" y="48895"/>
                  </a:cubicBezTo>
                  <a:cubicBezTo>
                    <a:pt x="246507" y="44323"/>
                    <a:pt x="254381" y="42037"/>
                    <a:pt x="263017" y="42037"/>
                  </a:cubicBezTo>
                  <a:cubicBezTo>
                    <a:pt x="269367" y="42037"/>
                    <a:pt x="275463" y="43561"/>
                    <a:pt x="281178" y="46736"/>
                  </a:cubicBezTo>
                  <a:cubicBezTo>
                    <a:pt x="286893" y="49911"/>
                    <a:pt x="291719" y="54356"/>
                    <a:pt x="295783" y="59944"/>
                  </a:cubicBezTo>
                  <a:lnTo>
                    <a:pt x="297053" y="59944"/>
                  </a:lnTo>
                  <a:lnTo>
                    <a:pt x="297053" y="2794"/>
                  </a:lnTo>
                  <a:lnTo>
                    <a:pt x="313690" y="2794"/>
                  </a:lnTo>
                  <a:close/>
                  <a:moveTo>
                    <a:pt x="297815" y="97790"/>
                  </a:moveTo>
                  <a:cubicBezTo>
                    <a:pt x="297815" y="90170"/>
                    <a:pt x="296545" y="83439"/>
                    <a:pt x="293751" y="77343"/>
                  </a:cubicBezTo>
                  <a:cubicBezTo>
                    <a:pt x="291084" y="71374"/>
                    <a:pt x="287401" y="66675"/>
                    <a:pt x="282702" y="63373"/>
                  </a:cubicBezTo>
                  <a:cubicBezTo>
                    <a:pt x="278003" y="60071"/>
                    <a:pt x="272542" y="58420"/>
                    <a:pt x="266573" y="58420"/>
                  </a:cubicBezTo>
                  <a:cubicBezTo>
                    <a:pt x="260477" y="58420"/>
                    <a:pt x="254889" y="60071"/>
                    <a:pt x="250063" y="63373"/>
                  </a:cubicBezTo>
                  <a:cubicBezTo>
                    <a:pt x="245237" y="66675"/>
                    <a:pt x="241427" y="71374"/>
                    <a:pt x="238633" y="77343"/>
                  </a:cubicBezTo>
                  <a:cubicBezTo>
                    <a:pt x="235839" y="83439"/>
                    <a:pt x="234569" y="90170"/>
                    <a:pt x="234569" y="97790"/>
                  </a:cubicBezTo>
                  <a:cubicBezTo>
                    <a:pt x="234569" y="105410"/>
                    <a:pt x="235966" y="112268"/>
                    <a:pt x="238760" y="118237"/>
                  </a:cubicBezTo>
                  <a:cubicBezTo>
                    <a:pt x="241554" y="124206"/>
                    <a:pt x="245364" y="128905"/>
                    <a:pt x="250317" y="132207"/>
                  </a:cubicBezTo>
                  <a:cubicBezTo>
                    <a:pt x="255270" y="135509"/>
                    <a:pt x="260858" y="137160"/>
                    <a:pt x="267081" y="137160"/>
                  </a:cubicBezTo>
                  <a:cubicBezTo>
                    <a:pt x="272923" y="137160"/>
                    <a:pt x="278257" y="135509"/>
                    <a:pt x="282829" y="132207"/>
                  </a:cubicBezTo>
                  <a:cubicBezTo>
                    <a:pt x="287401" y="128905"/>
                    <a:pt x="291084" y="124206"/>
                    <a:pt x="293751" y="118237"/>
                  </a:cubicBezTo>
                  <a:cubicBezTo>
                    <a:pt x="296418" y="112268"/>
                    <a:pt x="297688" y="105410"/>
                    <a:pt x="297688" y="97790"/>
                  </a:cubicBezTo>
                  <a:close/>
                  <a:moveTo>
                    <a:pt x="434594" y="88773"/>
                  </a:moveTo>
                  <a:cubicBezTo>
                    <a:pt x="434594" y="93472"/>
                    <a:pt x="434213" y="98044"/>
                    <a:pt x="433451" y="102362"/>
                  </a:cubicBezTo>
                  <a:lnTo>
                    <a:pt x="358775" y="102362"/>
                  </a:lnTo>
                  <a:cubicBezTo>
                    <a:pt x="359410" y="113411"/>
                    <a:pt x="362712" y="122174"/>
                    <a:pt x="368554" y="128651"/>
                  </a:cubicBezTo>
                  <a:cubicBezTo>
                    <a:pt x="374396" y="135001"/>
                    <a:pt x="382143" y="138176"/>
                    <a:pt x="391795" y="138176"/>
                  </a:cubicBezTo>
                  <a:cubicBezTo>
                    <a:pt x="397256" y="138176"/>
                    <a:pt x="402336" y="136906"/>
                    <a:pt x="407162" y="134239"/>
                  </a:cubicBezTo>
                  <a:cubicBezTo>
                    <a:pt x="411988" y="131572"/>
                    <a:pt x="416052" y="127635"/>
                    <a:pt x="419608" y="122428"/>
                  </a:cubicBezTo>
                  <a:lnTo>
                    <a:pt x="432562" y="131445"/>
                  </a:lnTo>
                  <a:cubicBezTo>
                    <a:pt x="423037" y="146050"/>
                    <a:pt x="409448" y="153416"/>
                    <a:pt x="391795" y="153416"/>
                  </a:cubicBezTo>
                  <a:cubicBezTo>
                    <a:pt x="376174" y="153416"/>
                    <a:pt x="363855" y="148463"/>
                    <a:pt x="354838" y="138557"/>
                  </a:cubicBezTo>
                  <a:cubicBezTo>
                    <a:pt x="345821" y="128778"/>
                    <a:pt x="341376" y="115189"/>
                    <a:pt x="341376" y="98044"/>
                  </a:cubicBezTo>
                  <a:cubicBezTo>
                    <a:pt x="341376" y="80645"/>
                    <a:pt x="345694" y="67056"/>
                    <a:pt x="354203" y="57023"/>
                  </a:cubicBezTo>
                  <a:cubicBezTo>
                    <a:pt x="362712" y="46990"/>
                    <a:pt x="374523" y="42037"/>
                    <a:pt x="389382" y="42037"/>
                  </a:cubicBezTo>
                  <a:cubicBezTo>
                    <a:pt x="403352" y="42037"/>
                    <a:pt x="414401" y="46228"/>
                    <a:pt x="422529" y="54610"/>
                  </a:cubicBezTo>
                  <a:cubicBezTo>
                    <a:pt x="430657" y="62992"/>
                    <a:pt x="434594" y="74422"/>
                    <a:pt x="434594" y="88773"/>
                  </a:cubicBezTo>
                  <a:close/>
                  <a:moveTo>
                    <a:pt x="417576" y="87376"/>
                  </a:moveTo>
                  <a:cubicBezTo>
                    <a:pt x="417576" y="77978"/>
                    <a:pt x="415163" y="70485"/>
                    <a:pt x="410464" y="65151"/>
                  </a:cubicBezTo>
                  <a:cubicBezTo>
                    <a:pt x="405765" y="59817"/>
                    <a:pt x="398653" y="57150"/>
                    <a:pt x="389382" y="57150"/>
                  </a:cubicBezTo>
                  <a:cubicBezTo>
                    <a:pt x="381000" y="57150"/>
                    <a:pt x="374142" y="59690"/>
                    <a:pt x="368935" y="64643"/>
                  </a:cubicBezTo>
                  <a:cubicBezTo>
                    <a:pt x="363728" y="69723"/>
                    <a:pt x="360426" y="77216"/>
                    <a:pt x="359156" y="87376"/>
                  </a:cubicBezTo>
                  <a:close/>
                  <a:moveTo>
                    <a:pt x="518033" y="150749"/>
                  </a:moveTo>
                  <a:lnTo>
                    <a:pt x="518033" y="44831"/>
                  </a:lnTo>
                  <a:lnTo>
                    <a:pt x="534670" y="44831"/>
                  </a:lnTo>
                  <a:lnTo>
                    <a:pt x="534670" y="65024"/>
                  </a:lnTo>
                  <a:lnTo>
                    <a:pt x="535686" y="65024"/>
                  </a:lnTo>
                  <a:cubicBezTo>
                    <a:pt x="540131" y="57785"/>
                    <a:pt x="545719" y="52197"/>
                    <a:pt x="552450" y="48133"/>
                  </a:cubicBezTo>
                  <a:cubicBezTo>
                    <a:pt x="559181" y="44069"/>
                    <a:pt x="566801" y="42037"/>
                    <a:pt x="575056" y="42037"/>
                  </a:cubicBezTo>
                  <a:lnTo>
                    <a:pt x="576453" y="42037"/>
                  </a:lnTo>
                  <a:lnTo>
                    <a:pt x="576453" y="59944"/>
                  </a:lnTo>
                  <a:lnTo>
                    <a:pt x="574675" y="59944"/>
                  </a:lnTo>
                  <a:cubicBezTo>
                    <a:pt x="566547" y="59944"/>
                    <a:pt x="559435" y="61341"/>
                    <a:pt x="553466" y="64008"/>
                  </a:cubicBezTo>
                  <a:cubicBezTo>
                    <a:pt x="547497" y="66675"/>
                    <a:pt x="542798" y="70358"/>
                    <a:pt x="539496" y="74930"/>
                  </a:cubicBezTo>
                  <a:cubicBezTo>
                    <a:pt x="536194" y="79502"/>
                    <a:pt x="534543" y="84455"/>
                    <a:pt x="534543" y="89789"/>
                  </a:cubicBezTo>
                  <a:lnTo>
                    <a:pt x="534543" y="150749"/>
                  </a:lnTo>
                  <a:close/>
                  <a:moveTo>
                    <a:pt x="637413" y="153670"/>
                  </a:moveTo>
                  <a:cubicBezTo>
                    <a:pt x="627634" y="153670"/>
                    <a:pt x="619125" y="151384"/>
                    <a:pt x="611759" y="146812"/>
                  </a:cubicBezTo>
                  <a:cubicBezTo>
                    <a:pt x="604393" y="142240"/>
                    <a:pt x="598805" y="135763"/>
                    <a:pt x="594868" y="127381"/>
                  </a:cubicBezTo>
                  <a:cubicBezTo>
                    <a:pt x="590931" y="118999"/>
                    <a:pt x="588899" y="109093"/>
                    <a:pt x="588899" y="97790"/>
                  </a:cubicBezTo>
                  <a:cubicBezTo>
                    <a:pt x="588899" y="86487"/>
                    <a:pt x="590804" y="76581"/>
                    <a:pt x="594868" y="68199"/>
                  </a:cubicBezTo>
                  <a:cubicBezTo>
                    <a:pt x="598932" y="59817"/>
                    <a:pt x="604393" y="53340"/>
                    <a:pt x="611759" y="48768"/>
                  </a:cubicBezTo>
                  <a:cubicBezTo>
                    <a:pt x="619125" y="44323"/>
                    <a:pt x="627634" y="42037"/>
                    <a:pt x="637413" y="42037"/>
                  </a:cubicBezTo>
                  <a:cubicBezTo>
                    <a:pt x="647192" y="42037"/>
                    <a:pt x="655701" y="44323"/>
                    <a:pt x="662940" y="48768"/>
                  </a:cubicBezTo>
                  <a:cubicBezTo>
                    <a:pt x="670179" y="53340"/>
                    <a:pt x="675894" y="59817"/>
                    <a:pt x="679831" y="68199"/>
                  </a:cubicBezTo>
                  <a:cubicBezTo>
                    <a:pt x="683768" y="76581"/>
                    <a:pt x="685800" y="86487"/>
                    <a:pt x="685800" y="97790"/>
                  </a:cubicBezTo>
                  <a:cubicBezTo>
                    <a:pt x="685800" y="109093"/>
                    <a:pt x="683768" y="118999"/>
                    <a:pt x="679831" y="127381"/>
                  </a:cubicBezTo>
                  <a:cubicBezTo>
                    <a:pt x="675894" y="135763"/>
                    <a:pt x="670179" y="142240"/>
                    <a:pt x="662940" y="146812"/>
                  </a:cubicBezTo>
                  <a:cubicBezTo>
                    <a:pt x="655701" y="151384"/>
                    <a:pt x="647192" y="153670"/>
                    <a:pt x="637413" y="153670"/>
                  </a:cubicBezTo>
                  <a:close/>
                  <a:moveTo>
                    <a:pt x="637413" y="138049"/>
                  </a:moveTo>
                  <a:cubicBezTo>
                    <a:pt x="647065" y="138049"/>
                    <a:pt x="654685" y="134366"/>
                    <a:pt x="660273" y="127254"/>
                  </a:cubicBezTo>
                  <a:cubicBezTo>
                    <a:pt x="665988" y="120015"/>
                    <a:pt x="668782" y="110236"/>
                    <a:pt x="668782" y="97790"/>
                  </a:cubicBezTo>
                  <a:cubicBezTo>
                    <a:pt x="668782" y="85344"/>
                    <a:pt x="665988" y="75565"/>
                    <a:pt x="660273" y="68453"/>
                  </a:cubicBezTo>
                  <a:cubicBezTo>
                    <a:pt x="654558" y="61214"/>
                    <a:pt x="646938" y="57658"/>
                    <a:pt x="637413" y="57658"/>
                  </a:cubicBezTo>
                  <a:cubicBezTo>
                    <a:pt x="627888" y="57658"/>
                    <a:pt x="620141" y="61214"/>
                    <a:pt x="614553" y="68453"/>
                  </a:cubicBezTo>
                  <a:cubicBezTo>
                    <a:pt x="608838" y="75565"/>
                    <a:pt x="606044" y="85344"/>
                    <a:pt x="606044" y="97790"/>
                  </a:cubicBezTo>
                  <a:cubicBezTo>
                    <a:pt x="606044" y="110236"/>
                    <a:pt x="608838" y="120015"/>
                    <a:pt x="614553" y="127254"/>
                  </a:cubicBezTo>
                  <a:cubicBezTo>
                    <a:pt x="620268" y="134366"/>
                    <a:pt x="627888" y="138049"/>
                    <a:pt x="637413" y="138049"/>
                  </a:cubicBezTo>
                  <a:close/>
                  <a:moveTo>
                    <a:pt x="718058" y="2794"/>
                  </a:moveTo>
                  <a:lnTo>
                    <a:pt x="734695" y="2794"/>
                  </a:lnTo>
                  <a:lnTo>
                    <a:pt x="734695" y="128778"/>
                  </a:lnTo>
                  <a:cubicBezTo>
                    <a:pt x="734695" y="134239"/>
                    <a:pt x="737489" y="137033"/>
                    <a:pt x="742950" y="137033"/>
                  </a:cubicBezTo>
                  <a:lnTo>
                    <a:pt x="747903" y="137033"/>
                  </a:lnTo>
                  <a:lnTo>
                    <a:pt x="747903" y="152654"/>
                  </a:lnTo>
                  <a:lnTo>
                    <a:pt x="739140" y="152654"/>
                  </a:lnTo>
                  <a:cubicBezTo>
                    <a:pt x="725170" y="152654"/>
                    <a:pt x="718185" y="146177"/>
                    <a:pt x="718185" y="133223"/>
                  </a:cubicBezTo>
                  <a:close/>
                  <a:moveTo>
                    <a:pt x="765683" y="2794"/>
                  </a:moveTo>
                  <a:lnTo>
                    <a:pt x="782320" y="2794"/>
                  </a:lnTo>
                  <a:lnTo>
                    <a:pt x="782320" y="128778"/>
                  </a:lnTo>
                  <a:cubicBezTo>
                    <a:pt x="782320" y="134239"/>
                    <a:pt x="785114" y="137033"/>
                    <a:pt x="790575" y="137033"/>
                  </a:cubicBezTo>
                  <a:lnTo>
                    <a:pt x="795528" y="137033"/>
                  </a:lnTo>
                  <a:lnTo>
                    <a:pt x="795528" y="152654"/>
                  </a:lnTo>
                  <a:lnTo>
                    <a:pt x="786765" y="152654"/>
                  </a:lnTo>
                  <a:cubicBezTo>
                    <a:pt x="772795" y="152654"/>
                    <a:pt x="765810" y="146177"/>
                    <a:pt x="765810" y="133223"/>
                  </a:cubicBezTo>
                  <a:close/>
                  <a:moveTo>
                    <a:pt x="856488" y="153670"/>
                  </a:moveTo>
                  <a:cubicBezTo>
                    <a:pt x="846709" y="153670"/>
                    <a:pt x="838200" y="151384"/>
                    <a:pt x="830834" y="146812"/>
                  </a:cubicBezTo>
                  <a:cubicBezTo>
                    <a:pt x="823468" y="142240"/>
                    <a:pt x="817880" y="135763"/>
                    <a:pt x="813943" y="127381"/>
                  </a:cubicBezTo>
                  <a:cubicBezTo>
                    <a:pt x="810006" y="118999"/>
                    <a:pt x="808101" y="109093"/>
                    <a:pt x="808101" y="97790"/>
                  </a:cubicBezTo>
                  <a:cubicBezTo>
                    <a:pt x="808101" y="86487"/>
                    <a:pt x="810006" y="76581"/>
                    <a:pt x="813943" y="68199"/>
                  </a:cubicBezTo>
                  <a:cubicBezTo>
                    <a:pt x="817880" y="59817"/>
                    <a:pt x="823468" y="53340"/>
                    <a:pt x="830834" y="48768"/>
                  </a:cubicBezTo>
                  <a:cubicBezTo>
                    <a:pt x="838200" y="44323"/>
                    <a:pt x="846709" y="42037"/>
                    <a:pt x="856488" y="42037"/>
                  </a:cubicBezTo>
                  <a:cubicBezTo>
                    <a:pt x="866267" y="42037"/>
                    <a:pt x="874776" y="44323"/>
                    <a:pt x="882015" y="48768"/>
                  </a:cubicBezTo>
                  <a:cubicBezTo>
                    <a:pt x="889254" y="53340"/>
                    <a:pt x="894969" y="59817"/>
                    <a:pt x="898906" y="68199"/>
                  </a:cubicBezTo>
                  <a:cubicBezTo>
                    <a:pt x="902843" y="76581"/>
                    <a:pt x="904875" y="86487"/>
                    <a:pt x="904875" y="97790"/>
                  </a:cubicBezTo>
                  <a:cubicBezTo>
                    <a:pt x="904875" y="109093"/>
                    <a:pt x="902843" y="118999"/>
                    <a:pt x="898906" y="127381"/>
                  </a:cubicBezTo>
                  <a:cubicBezTo>
                    <a:pt x="894969" y="135763"/>
                    <a:pt x="889254" y="142240"/>
                    <a:pt x="882015" y="146812"/>
                  </a:cubicBezTo>
                  <a:cubicBezTo>
                    <a:pt x="874776" y="151384"/>
                    <a:pt x="866267" y="153670"/>
                    <a:pt x="856488" y="153670"/>
                  </a:cubicBezTo>
                  <a:close/>
                  <a:moveTo>
                    <a:pt x="856488" y="138049"/>
                  </a:moveTo>
                  <a:cubicBezTo>
                    <a:pt x="866140" y="138049"/>
                    <a:pt x="873760" y="134366"/>
                    <a:pt x="879348" y="127254"/>
                  </a:cubicBezTo>
                  <a:cubicBezTo>
                    <a:pt x="885063" y="120015"/>
                    <a:pt x="887857" y="110236"/>
                    <a:pt x="887857" y="97790"/>
                  </a:cubicBezTo>
                  <a:cubicBezTo>
                    <a:pt x="887857" y="85344"/>
                    <a:pt x="885063" y="75565"/>
                    <a:pt x="879348" y="68453"/>
                  </a:cubicBezTo>
                  <a:cubicBezTo>
                    <a:pt x="873633" y="61214"/>
                    <a:pt x="866013" y="57658"/>
                    <a:pt x="856488" y="57658"/>
                  </a:cubicBezTo>
                  <a:cubicBezTo>
                    <a:pt x="846963" y="57658"/>
                    <a:pt x="839216" y="61214"/>
                    <a:pt x="833628" y="68453"/>
                  </a:cubicBezTo>
                  <a:cubicBezTo>
                    <a:pt x="827913" y="75565"/>
                    <a:pt x="825119" y="85344"/>
                    <a:pt x="825119" y="97790"/>
                  </a:cubicBezTo>
                  <a:cubicBezTo>
                    <a:pt x="825119" y="110236"/>
                    <a:pt x="827913" y="120015"/>
                    <a:pt x="833628" y="127254"/>
                  </a:cubicBezTo>
                  <a:cubicBezTo>
                    <a:pt x="839343" y="134366"/>
                    <a:pt x="846963" y="138049"/>
                    <a:pt x="856488" y="138049"/>
                  </a:cubicBezTo>
                  <a:close/>
                  <a:moveTo>
                    <a:pt x="1024128" y="44831"/>
                  </a:moveTo>
                  <a:lnTo>
                    <a:pt x="1024128" y="150749"/>
                  </a:lnTo>
                  <a:lnTo>
                    <a:pt x="1007491" y="150749"/>
                  </a:lnTo>
                  <a:lnTo>
                    <a:pt x="1007491" y="136017"/>
                  </a:lnTo>
                  <a:lnTo>
                    <a:pt x="1006348" y="136017"/>
                  </a:lnTo>
                  <a:cubicBezTo>
                    <a:pt x="1003173" y="141351"/>
                    <a:pt x="998474" y="145669"/>
                    <a:pt x="992378" y="148844"/>
                  </a:cubicBezTo>
                  <a:cubicBezTo>
                    <a:pt x="986282" y="152019"/>
                    <a:pt x="979932" y="153670"/>
                    <a:pt x="973582" y="153670"/>
                  </a:cubicBezTo>
                  <a:cubicBezTo>
                    <a:pt x="961898" y="153670"/>
                    <a:pt x="952627" y="149987"/>
                    <a:pt x="946023" y="142748"/>
                  </a:cubicBezTo>
                  <a:cubicBezTo>
                    <a:pt x="939419" y="135382"/>
                    <a:pt x="936117" y="125222"/>
                    <a:pt x="936117" y="112268"/>
                  </a:cubicBezTo>
                  <a:lnTo>
                    <a:pt x="936117" y="44831"/>
                  </a:lnTo>
                  <a:lnTo>
                    <a:pt x="952754" y="44831"/>
                  </a:lnTo>
                  <a:lnTo>
                    <a:pt x="952754" y="109601"/>
                  </a:lnTo>
                  <a:cubicBezTo>
                    <a:pt x="952754" y="118237"/>
                    <a:pt x="955167" y="125222"/>
                    <a:pt x="959866" y="130556"/>
                  </a:cubicBezTo>
                  <a:cubicBezTo>
                    <a:pt x="964565" y="135890"/>
                    <a:pt x="970661" y="138430"/>
                    <a:pt x="978027" y="138430"/>
                  </a:cubicBezTo>
                  <a:cubicBezTo>
                    <a:pt x="986790" y="138430"/>
                    <a:pt x="993902" y="135636"/>
                    <a:pt x="999363" y="129921"/>
                  </a:cubicBezTo>
                  <a:cubicBezTo>
                    <a:pt x="1004824" y="124206"/>
                    <a:pt x="1007618" y="116840"/>
                    <a:pt x="1007618" y="107569"/>
                  </a:cubicBezTo>
                  <a:lnTo>
                    <a:pt x="1007618" y="44831"/>
                  </a:lnTo>
                  <a:close/>
                  <a:moveTo>
                    <a:pt x="1104900" y="60452"/>
                  </a:moveTo>
                  <a:lnTo>
                    <a:pt x="1074293" y="60452"/>
                  </a:lnTo>
                  <a:lnTo>
                    <a:pt x="1074293" y="121158"/>
                  </a:lnTo>
                  <a:cubicBezTo>
                    <a:pt x="1074293" y="127127"/>
                    <a:pt x="1075817" y="131572"/>
                    <a:pt x="1078865" y="134874"/>
                  </a:cubicBezTo>
                  <a:cubicBezTo>
                    <a:pt x="1081913" y="138176"/>
                    <a:pt x="1086231" y="139573"/>
                    <a:pt x="1091692" y="139573"/>
                  </a:cubicBezTo>
                  <a:cubicBezTo>
                    <a:pt x="1094867" y="139573"/>
                    <a:pt x="1098550" y="138938"/>
                    <a:pt x="1102487" y="137668"/>
                  </a:cubicBezTo>
                  <a:lnTo>
                    <a:pt x="1102487" y="152781"/>
                  </a:lnTo>
                  <a:cubicBezTo>
                    <a:pt x="1098931" y="154305"/>
                    <a:pt x="1094105" y="155067"/>
                    <a:pt x="1088263" y="155067"/>
                  </a:cubicBezTo>
                  <a:cubicBezTo>
                    <a:pt x="1078357" y="155067"/>
                    <a:pt x="1070864" y="152273"/>
                    <a:pt x="1065530" y="146558"/>
                  </a:cubicBezTo>
                  <a:cubicBezTo>
                    <a:pt x="1060323" y="140970"/>
                    <a:pt x="1057656" y="132969"/>
                    <a:pt x="1057656" y="122428"/>
                  </a:cubicBezTo>
                  <a:lnTo>
                    <a:pt x="1057656" y="60452"/>
                  </a:lnTo>
                  <a:lnTo>
                    <a:pt x="1041019" y="60452"/>
                  </a:lnTo>
                  <a:lnTo>
                    <a:pt x="1041019" y="44831"/>
                  </a:lnTo>
                  <a:lnTo>
                    <a:pt x="1057656" y="44831"/>
                  </a:lnTo>
                  <a:lnTo>
                    <a:pt x="1057656" y="11176"/>
                  </a:lnTo>
                  <a:lnTo>
                    <a:pt x="1074293" y="11176"/>
                  </a:lnTo>
                  <a:lnTo>
                    <a:pt x="1074293" y="44831"/>
                  </a:lnTo>
                  <a:lnTo>
                    <a:pt x="1104900" y="44831"/>
                  </a:lnTo>
                  <a:close/>
                  <a:moveTo>
                    <a:pt x="1127633" y="150749"/>
                  </a:moveTo>
                  <a:lnTo>
                    <a:pt x="1127633" y="129794"/>
                  </a:lnTo>
                  <a:lnTo>
                    <a:pt x="1148461" y="129794"/>
                  </a:lnTo>
                  <a:lnTo>
                    <a:pt x="1148461" y="150749"/>
                  </a:lnTo>
                  <a:close/>
                </a:path>
              </a:pathLst>
            </a:custGeom>
            <a:solidFill>
              <a:srgbClr val="F0F0F0">
                <a:alpha val="63922"/>
              </a:srgbClr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193672" y="4251322"/>
            <a:ext cx="5765797" cy="1603372"/>
          </a:xfrm>
          <a:custGeom>
            <a:avLst/>
            <a:gdLst/>
            <a:ahLst/>
            <a:cxnLst/>
            <a:rect r="r" b="b" t="t" l="l"/>
            <a:pathLst>
              <a:path h="1603372" w="5765797">
                <a:moveTo>
                  <a:pt x="0" y="0"/>
                </a:moveTo>
                <a:lnTo>
                  <a:pt x="5765797" y="0"/>
                </a:lnTo>
                <a:lnTo>
                  <a:pt x="5765797" y="1603372"/>
                </a:lnTo>
                <a:lnTo>
                  <a:pt x="0" y="160337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93672" y="2574922"/>
            <a:ext cx="5765797" cy="1603372"/>
          </a:xfrm>
          <a:custGeom>
            <a:avLst/>
            <a:gdLst/>
            <a:ahLst/>
            <a:cxnLst/>
            <a:rect r="r" b="b" t="t" l="l"/>
            <a:pathLst>
              <a:path h="1603372" w="5765797">
                <a:moveTo>
                  <a:pt x="0" y="0"/>
                </a:moveTo>
                <a:lnTo>
                  <a:pt x="5765797" y="0"/>
                </a:lnTo>
                <a:lnTo>
                  <a:pt x="5765797" y="1603372"/>
                </a:lnTo>
                <a:lnTo>
                  <a:pt x="0" y="160337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93100" y="1593342"/>
            <a:ext cx="5512213" cy="636908"/>
          </a:xfrm>
          <a:custGeom>
            <a:avLst/>
            <a:gdLst/>
            <a:ahLst/>
            <a:cxnLst/>
            <a:rect r="r" b="b" t="t" l="l"/>
            <a:pathLst>
              <a:path h="636908" w="5512213">
                <a:moveTo>
                  <a:pt x="0" y="0"/>
                </a:moveTo>
                <a:lnTo>
                  <a:pt x="5512213" y="0"/>
                </a:lnTo>
                <a:lnTo>
                  <a:pt x="5512213" y="636908"/>
                </a:lnTo>
                <a:lnTo>
                  <a:pt x="0" y="63690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>
            <a:grpSpLocks noChangeAspect="true"/>
          </p:cNvGrpSpPr>
          <p:nvPr/>
        </p:nvGrpSpPr>
        <p:grpSpPr>
          <a:xfrm rot="0">
            <a:off x="6296025" y="1524000"/>
            <a:ext cx="5638800" cy="3810000"/>
            <a:chOff x="0" y="0"/>
            <a:chExt cx="7518400" cy="5080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518400" cy="5080000"/>
            </a:xfrm>
            <a:custGeom>
              <a:avLst/>
              <a:gdLst/>
              <a:ahLst/>
              <a:cxnLst/>
              <a:rect r="r" b="b" t="t" l="l"/>
              <a:pathLst>
                <a:path h="5080000" w="7518400">
                  <a:moveTo>
                    <a:pt x="135509" y="0"/>
                  </a:moveTo>
                  <a:cubicBezTo>
                    <a:pt x="60579" y="0"/>
                    <a:pt x="0" y="60579"/>
                    <a:pt x="0" y="135509"/>
                  </a:cubicBezTo>
                  <a:lnTo>
                    <a:pt x="0" y="4944491"/>
                  </a:lnTo>
                  <a:cubicBezTo>
                    <a:pt x="0" y="5019421"/>
                    <a:pt x="60579" y="5080000"/>
                    <a:pt x="135509" y="5080000"/>
                  </a:cubicBezTo>
                  <a:lnTo>
                    <a:pt x="7382891" y="5080000"/>
                  </a:lnTo>
                  <a:cubicBezTo>
                    <a:pt x="7457694" y="5080000"/>
                    <a:pt x="7518400" y="5019421"/>
                    <a:pt x="7518400" y="4944491"/>
                  </a:cubicBezTo>
                  <a:lnTo>
                    <a:pt x="7518400" y="135509"/>
                  </a:lnTo>
                  <a:cubicBezTo>
                    <a:pt x="7518400" y="60579"/>
                    <a:pt x="7457821" y="0"/>
                    <a:pt x="7382891" y="0"/>
                  </a:cubicBez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254317" y="892664"/>
            <a:ext cx="4508106" cy="5482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6"/>
              </a:lnSpc>
            </a:pPr>
            <a:r>
              <a:rPr lang="en-US" sz="3004">
                <a:solidFill>
                  <a:srgbClr val="F0F0F0"/>
                </a:solidFill>
                <a:latin typeface="20db"/>
                <a:ea typeface="20db"/>
                <a:cs typeface="20db"/>
                <a:sym typeface="20db"/>
              </a:rPr>
              <a:t>Outcome &amp; ROI Evidence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57514" y="2805151"/>
            <a:ext cx="1752295" cy="7769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7"/>
              </a:lnSpc>
            </a:pPr>
            <a:r>
              <a:rPr lang="en-US" sz="3604" spc="25">
                <a:solidFill>
                  <a:srgbClr val="4A90E2"/>
                </a:solidFill>
                <a:latin typeface="20db"/>
                <a:ea typeface="20db"/>
                <a:cs typeface="20db"/>
                <a:sym typeface="20db"/>
              </a:rPr>
              <a:t>92</a:t>
            </a:r>
          </a:p>
          <a:p>
            <a:pPr algn="l">
              <a:lnSpc>
                <a:spcPts val="2208"/>
              </a:lnSpc>
            </a:pPr>
            <a:r>
              <a:rPr lang="en-US" sz="1577" spc="11">
                <a:solidFill>
                  <a:srgbClr val="F0F0F0"/>
                </a:solidFill>
                <a:latin typeface="210 8비트"/>
                <a:ea typeface="210 8비트"/>
                <a:cs typeface="210 8비트"/>
                <a:sym typeface="210 8비트"/>
              </a:rPr>
              <a:t>StrokesPrevented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61117" y="3168434"/>
            <a:ext cx="59265" cy="4467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43"/>
              </a:lnSpc>
            </a:pPr>
            <a:r>
              <a:rPr lang="en-US" sz="1577">
                <a:solidFill>
                  <a:srgbClr val="F0F0F0"/>
                </a:solidFill>
                <a:latin typeface="210 8비트"/>
                <a:ea typeface="210 8비트"/>
                <a:cs typeface="210 8비트"/>
                <a:sym typeface="210 8비트"/>
              </a:rPr>
              <a:t> 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57514" y="3884019"/>
            <a:ext cx="1282827" cy="1377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12"/>
              </a:lnSpc>
            </a:pPr>
            <a:r>
              <a:rPr lang="en-US" sz="3604">
                <a:solidFill>
                  <a:srgbClr val="4A90E2"/>
                </a:solidFill>
                <a:latin typeface="20db"/>
                <a:ea typeface="20db"/>
                <a:cs typeface="20db"/>
                <a:sym typeface="20db"/>
              </a:rPr>
              <a:t>$4.1M</a:t>
            </a:r>
          </a:p>
          <a:p>
            <a:pPr algn="l">
              <a:lnSpc>
                <a:spcPts val="788"/>
              </a:lnSpc>
            </a:pPr>
            <a:r>
              <a:rPr lang="en-US" sz="1577" spc="11">
                <a:solidFill>
                  <a:srgbClr val="F0F0F0"/>
                </a:solidFill>
                <a:latin typeface="210 8비트"/>
                <a:ea typeface="210 8비트"/>
                <a:cs typeface="210 8비트"/>
                <a:sym typeface="210 8비트"/>
              </a:rPr>
              <a:t>Cost Savings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018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772650" y="1200150"/>
            <a:ext cx="2419350" cy="4305300"/>
          </a:xfrm>
          <a:custGeom>
            <a:avLst/>
            <a:gdLst/>
            <a:ahLst/>
            <a:cxnLst/>
            <a:rect r="r" b="b" t="t" l="l"/>
            <a:pathLst>
              <a:path h="4305300" w="2419350">
                <a:moveTo>
                  <a:pt x="0" y="0"/>
                </a:moveTo>
                <a:lnTo>
                  <a:pt x="2419350" y="0"/>
                </a:lnTo>
                <a:lnTo>
                  <a:pt x="2419350" y="4305300"/>
                </a:lnTo>
                <a:lnTo>
                  <a:pt x="0" y="4305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12192000" cy="6858000"/>
          </a:xfrm>
          <a:custGeom>
            <a:avLst/>
            <a:gdLst/>
            <a:ahLst/>
            <a:cxnLst/>
            <a:rect r="r" b="b" t="t" l="l"/>
            <a:pathLst>
              <a:path h="6858000" w="12192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06577" y="3918328"/>
            <a:ext cx="2589781" cy="476126"/>
          </a:xfrm>
          <a:custGeom>
            <a:avLst/>
            <a:gdLst/>
            <a:ahLst/>
            <a:cxnLst/>
            <a:rect r="r" b="b" t="t" l="l"/>
            <a:pathLst>
              <a:path h="476126" w="2589781">
                <a:moveTo>
                  <a:pt x="0" y="0"/>
                </a:moveTo>
                <a:lnTo>
                  <a:pt x="2589781" y="0"/>
                </a:lnTo>
                <a:lnTo>
                  <a:pt x="2589781" y="476126"/>
                </a:lnTo>
                <a:lnTo>
                  <a:pt x="0" y="47612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442459" y="3918328"/>
            <a:ext cx="2641730" cy="473964"/>
          </a:xfrm>
          <a:custGeom>
            <a:avLst/>
            <a:gdLst/>
            <a:ahLst/>
            <a:cxnLst/>
            <a:rect r="r" b="b" t="t" l="l"/>
            <a:pathLst>
              <a:path h="473964" w="2641730">
                <a:moveTo>
                  <a:pt x="0" y="0"/>
                </a:moveTo>
                <a:lnTo>
                  <a:pt x="2641730" y="0"/>
                </a:lnTo>
                <a:lnTo>
                  <a:pt x="2641730" y="473964"/>
                </a:lnTo>
                <a:lnTo>
                  <a:pt x="0" y="47396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230236" y="3918328"/>
            <a:ext cx="2407663" cy="473964"/>
          </a:xfrm>
          <a:custGeom>
            <a:avLst/>
            <a:gdLst/>
            <a:ahLst/>
            <a:cxnLst/>
            <a:rect r="r" b="b" t="t" l="l"/>
            <a:pathLst>
              <a:path h="473964" w="2407663">
                <a:moveTo>
                  <a:pt x="0" y="0"/>
                </a:moveTo>
                <a:lnTo>
                  <a:pt x="2407663" y="0"/>
                </a:lnTo>
                <a:lnTo>
                  <a:pt x="2407663" y="473964"/>
                </a:lnTo>
                <a:lnTo>
                  <a:pt x="0" y="47396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8991600" y="3918328"/>
            <a:ext cx="2215639" cy="476126"/>
          </a:xfrm>
          <a:custGeom>
            <a:avLst/>
            <a:gdLst/>
            <a:ahLst/>
            <a:cxnLst/>
            <a:rect r="r" b="b" t="t" l="l"/>
            <a:pathLst>
              <a:path h="476126" w="2215639">
                <a:moveTo>
                  <a:pt x="0" y="0"/>
                </a:moveTo>
                <a:lnTo>
                  <a:pt x="2215639" y="0"/>
                </a:lnTo>
                <a:lnTo>
                  <a:pt x="2215639" y="476126"/>
                </a:lnTo>
                <a:lnTo>
                  <a:pt x="0" y="476126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98497" y="2582923"/>
            <a:ext cx="10794997" cy="1014346"/>
          </a:xfrm>
          <a:custGeom>
            <a:avLst/>
            <a:gdLst/>
            <a:ahLst/>
            <a:cxnLst/>
            <a:rect r="r" b="b" t="t" l="l"/>
            <a:pathLst>
              <a:path h="1014346" w="10794997">
                <a:moveTo>
                  <a:pt x="0" y="0"/>
                </a:moveTo>
                <a:lnTo>
                  <a:pt x="10794997" y="0"/>
                </a:lnTo>
                <a:lnTo>
                  <a:pt x="10794997" y="1014346"/>
                </a:lnTo>
                <a:lnTo>
                  <a:pt x="0" y="1014346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542031" y="4712084"/>
            <a:ext cx="9096861" cy="403222"/>
          </a:xfrm>
          <a:custGeom>
            <a:avLst/>
            <a:gdLst/>
            <a:ahLst/>
            <a:cxnLst/>
            <a:rect r="r" b="b" t="t" l="l"/>
            <a:pathLst>
              <a:path h="403222" w="9096861">
                <a:moveTo>
                  <a:pt x="0" y="0"/>
                </a:moveTo>
                <a:lnTo>
                  <a:pt x="9096861" y="0"/>
                </a:lnTo>
                <a:lnTo>
                  <a:pt x="9096861" y="403222"/>
                </a:lnTo>
                <a:lnTo>
                  <a:pt x="0" y="403222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251899" y="1630528"/>
            <a:ext cx="9887407" cy="5482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6"/>
              </a:lnSpc>
            </a:pPr>
            <a:r>
              <a:rPr lang="en-US" sz="3004">
                <a:solidFill>
                  <a:srgbClr val="F0F0F0"/>
                </a:solidFill>
                <a:latin typeface="20db"/>
                <a:ea typeface="20db"/>
                <a:cs typeface="20db"/>
                <a:sym typeface="20db"/>
              </a:rPr>
              <a:t>Future Model Roadmap: Towards Precision Prevention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519933" y="3610518"/>
            <a:ext cx="1176614" cy="2848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08"/>
              </a:lnSpc>
            </a:pPr>
            <a:r>
              <a:rPr lang="en-US" sz="1577">
                <a:solidFill>
                  <a:srgbClr val="F0F0F0"/>
                </a:solidFill>
                <a:latin typeface="210 8비트"/>
                <a:ea typeface="210 8비트"/>
                <a:cs typeface="210 8비트"/>
                <a:sym typeface="210 8비트"/>
              </a:rPr>
              <a:t>M</a:t>
            </a:r>
            <a:r>
              <a:rPr lang="en-US" sz="1577">
                <a:solidFill>
                  <a:srgbClr val="000000"/>
                </a:solidFill>
                <a:latin typeface="210 8비트"/>
                <a:ea typeface="210 8비트"/>
                <a:cs typeface="210 8비트"/>
                <a:sym typeface="210 8비트"/>
              </a:rPr>
              <a:t> </a:t>
            </a:r>
            <a:r>
              <a:rPr lang="en-US" sz="1577">
                <a:solidFill>
                  <a:srgbClr val="F0F0F0"/>
                </a:solidFill>
                <a:latin typeface="210 8비트"/>
                <a:ea typeface="210 8비트"/>
                <a:cs typeface="210 8비트"/>
                <a:sym typeface="210 8비트"/>
              </a:rPr>
              <a:t>ul</a:t>
            </a:r>
            <a:r>
              <a:rPr lang="en-US" sz="1577">
                <a:solidFill>
                  <a:srgbClr val="000000"/>
                </a:solidFill>
                <a:latin typeface="210 8비트"/>
                <a:ea typeface="210 8비트"/>
                <a:cs typeface="210 8비트"/>
                <a:sym typeface="210 8비트"/>
              </a:rPr>
              <a:t> </a:t>
            </a:r>
            <a:r>
              <a:rPr lang="en-US" sz="1577">
                <a:solidFill>
                  <a:srgbClr val="F0F0F0"/>
                </a:solidFill>
                <a:latin typeface="210 8비트"/>
                <a:ea typeface="210 8비트"/>
                <a:cs typeface="210 8비트"/>
                <a:sym typeface="210 8비트"/>
              </a:rPr>
              <a:t>ti</a:t>
            </a:r>
            <a:r>
              <a:rPr lang="en-US" sz="1577">
                <a:solidFill>
                  <a:srgbClr val="000000"/>
                </a:solidFill>
                <a:latin typeface="210 8비트"/>
                <a:ea typeface="210 8비트"/>
                <a:cs typeface="210 8비트"/>
                <a:sym typeface="210 8비트"/>
              </a:rPr>
              <a:t> </a:t>
            </a:r>
            <a:r>
              <a:rPr lang="en-US" sz="1577">
                <a:solidFill>
                  <a:srgbClr val="F0F0F0"/>
                </a:solidFill>
                <a:latin typeface="210 8비트"/>
                <a:ea typeface="210 8비트"/>
                <a:cs typeface="210 8비트"/>
                <a:sym typeface="210 8비트"/>
              </a:rPr>
              <a:t>-O</a:t>
            </a:r>
            <a:r>
              <a:rPr lang="en-US" sz="1577">
                <a:solidFill>
                  <a:srgbClr val="000000"/>
                </a:solidFill>
                <a:latin typeface="210 8비트"/>
                <a:ea typeface="210 8비트"/>
                <a:cs typeface="210 8비트"/>
                <a:sym typeface="210 8비트"/>
              </a:rPr>
              <a:t> </a:t>
            </a:r>
            <a:r>
              <a:rPr lang="en-US" sz="1577">
                <a:solidFill>
                  <a:srgbClr val="F0F0F0"/>
                </a:solidFill>
                <a:latin typeface="210 8비트"/>
                <a:ea typeface="210 8비트"/>
                <a:cs typeface="210 8비트"/>
                <a:sym typeface="210 8비트"/>
              </a:rPr>
              <a:t>m</a:t>
            </a:r>
            <a:r>
              <a:rPr lang="en-US" sz="1577">
                <a:solidFill>
                  <a:srgbClr val="000000"/>
                </a:solidFill>
                <a:latin typeface="210 8비트"/>
                <a:ea typeface="210 8비트"/>
                <a:cs typeface="210 8비트"/>
                <a:sym typeface="210 8비트"/>
              </a:rPr>
              <a:t> </a:t>
            </a:r>
            <a:r>
              <a:rPr lang="en-US" sz="1577">
                <a:solidFill>
                  <a:srgbClr val="F0F0F0"/>
                </a:solidFill>
                <a:latin typeface="210 8비트"/>
                <a:ea typeface="210 8비트"/>
                <a:cs typeface="210 8비트"/>
                <a:sym typeface="210 8비트"/>
              </a:rPr>
              <a:t>ics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066918" y="3610518"/>
            <a:ext cx="1423502" cy="2848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08"/>
              </a:lnSpc>
            </a:pPr>
            <a:r>
              <a:rPr lang="en-US" sz="1577" spc="15">
                <a:solidFill>
                  <a:srgbClr val="F0F0F0"/>
                </a:solidFill>
                <a:latin typeface="210 8비트"/>
                <a:ea typeface="210 8비트"/>
                <a:cs typeface="210 8비트"/>
                <a:sym typeface="210 8비트"/>
              </a:rPr>
              <a:t>Wearable Data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489449" y="3610518"/>
            <a:ext cx="1931098" cy="2848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08"/>
              </a:lnSpc>
            </a:pPr>
            <a:r>
              <a:rPr lang="en-US" sz="1577" spc="14">
                <a:solidFill>
                  <a:srgbClr val="F0F0F0"/>
                </a:solidFill>
                <a:latin typeface="210 8비트"/>
                <a:ea typeface="210 8비트"/>
                <a:cs typeface="210 8비트"/>
                <a:sym typeface="210 8비트"/>
              </a:rPr>
              <a:t>Social Determinants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624827" y="4729391"/>
            <a:ext cx="5008397" cy="2848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08"/>
              </a:lnSpc>
            </a:pPr>
            <a:r>
              <a:rPr lang="en-US" sz="1577" spc="7">
                <a:solidFill>
                  <a:srgbClr val="F0F0F0"/>
                </a:solidFill>
                <a:latin typeface="210 8비트"/>
                <a:ea typeface="210 8비트"/>
                <a:cs typeface="210 8비트"/>
                <a:sym typeface="210 8비트"/>
              </a:rPr>
              <a:t>reactive alerts to proactive, personalized prevention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178033" y="3610518"/>
            <a:ext cx="1880016" cy="2848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08"/>
              </a:lnSpc>
            </a:pPr>
            <a:r>
              <a:rPr lang="en-US" sz="1577" spc="12">
                <a:solidFill>
                  <a:srgbClr val="F0F0F0"/>
                </a:solidFill>
                <a:latin typeface="210 8비트"/>
                <a:ea typeface="210 8비트"/>
                <a:cs typeface="210 8비트"/>
                <a:sym typeface="210 8비트"/>
              </a:rPr>
              <a:t>Federated Learning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E12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2192000" cy="6858000"/>
          </a:xfrm>
          <a:custGeom>
            <a:avLst/>
            <a:gdLst/>
            <a:ahLst/>
            <a:cxnLst/>
            <a:rect r="r" b="b" t="t" l="l"/>
            <a:pathLst>
              <a:path h="6858000" w="12192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772650" y="1200150"/>
            <a:ext cx="2419350" cy="4305300"/>
          </a:xfrm>
          <a:custGeom>
            <a:avLst/>
            <a:gdLst/>
            <a:ahLst/>
            <a:cxnLst/>
            <a:rect r="r" b="b" t="t" l="l"/>
            <a:pathLst>
              <a:path h="4305300" w="2419350">
                <a:moveTo>
                  <a:pt x="0" y="0"/>
                </a:moveTo>
                <a:lnTo>
                  <a:pt x="2419350" y="0"/>
                </a:lnTo>
                <a:lnTo>
                  <a:pt x="2419350" y="4305300"/>
                </a:lnTo>
                <a:lnTo>
                  <a:pt x="0" y="43053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441447" y="1859804"/>
            <a:ext cx="2893409" cy="22013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48"/>
              </a:lnSpc>
            </a:pPr>
            <a:r>
              <a:rPr lang="en-US" sz="8034" spc="8">
                <a:solidFill>
                  <a:srgbClr val="218EC1"/>
                </a:solidFill>
                <a:latin typeface="210 8비트"/>
                <a:ea typeface="210 8비트"/>
                <a:cs typeface="210 8비트"/>
                <a:sym typeface="210 8비트"/>
              </a:rPr>
              <a:t>06</a:t>
            </a:r>
          </a:p>
          <a:p>
            <a:pPr algn="l">
              <a:lnSpc>
                <a:spcPts val="6201"/>
              </a:lnSpc>
            </a:pPr>
            <a:r>
              <a:rPr lang="en-US" sz="4429">
                <a:solidFill>
                  <a:srgbClr val="FFFFFF"/>
                </a:solidFill>
                <a:latin typeface="210 8비트"/>
                <a:ea typeface="210 8비트"/>
                <a:cs typeface="210 8비트"/>
                <a:sym typeface="210 8비트"/>
              </a:rPr>
              <a:t>Takeaways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018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772650" y="1200150"/>
            <a:ext cx="2419350" cy="4305300"/>
          </a:xfrm>
          <a:custGeom>
            <a:avLst/>
            <a:gdLst/>
            <a:ahLst/>
            <a:cxnLst/>
            <a:rect r="r" b="b" t="t" l="l"/>
            <a:pathLst>
              <a:path h="4305300" w="2419350">
                <a:moveTo>
                  <a:pt x="0" y="0"/>
                </a:moveTo>
                <a:lnTo>
                  <a:pt x="2419350" y="0"/>
                </a:lnTo>
                <a:lnTo>
                  <a:pt x="2419350" y="4305300"/>
                </a:lnTo>
                <a:lnTo>
                  <a:pt x="0" y="4305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12192000" cy="6858000"/>
          </a:xfrm>
          <a:custGeom>
            <a:avLst/>
            <a:gdLst/>
            <a:ahLst/>
            <a:cxnLst/>
            <a:rect r="r" b="b" t="t" l="l"/>
            <a:pathLst>
              <a:path h="6858000" w="12192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93672" y="2679697"/>
            <a:ext cx="3822697" cy="2365372"/>
          </a:xfrm>
          <a:custGeom>
            <a:avLst/>
            <a:gdLst/>
            <a:ahLst/>
            <a:cxnLst/>
            <a:rect r="r" b="b" t="t" l="l"/>
            <a:pathLst>
              <a:path h="2365372" w="3822697">
                <a:moveTo>
                  <a:pt x="0" y="0"/>
                </a:moveTo>
                <a:lnTo>
                  <a:pt x="3822697" y="0"/>
                </a:lnTo>
                <a:lnTo>
                  <a:pt x="3822697" y="2365372"/>
                </a:lnTo>
                <a:lnTo>
                  <a:pt x="0" y="236537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184647" y="2679697"/>
            <a:ext cx="3822697" cy="2365372"/>
          </a:xfrm>
          <a:custGeom>
            <a:avLst/>
            <a:gdLst/>
            <a:ahLst/>
            <a:cxnLst/>
            <a:rect r="r" b="b" t="t" l="l"/>
            <a:pathLst>
              <a:path h="2365372" w="3822697">
                <a:moveTo>
                  <a:pt x="0" y="0"/>
                </a:moveTo>
                <a:lnTo>
                  <a:pt x="3822697" y="0"/>
                </a:lnTo>
                <a:lnTo>
                  <a:pt x="3822697" y="2365372"/>
                </a:lnTo>
                <a:lnTo>
                  <a:pt x="0" y="236537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8185147" y="2679697"/>
            <a:ext cx="3822697" cy="2365372"/>
          </a:xfrm>
          <a:custGeom>
            <a:avLst/>
            <a:gdLst/>
            <a:ahLst/>
            <a:cxnLst/>
            <a:rect r="r" b="b" t="t" l="l"/>
            <a:pathLst>
              <a:path h="2365372" w="3822697">
                <a:moveTo>
                  <a:pt x="0" y="0"/>
                </a:moveTo>
                <a:lnTo>
                  <a:pt x="3822697" y="0"/>
                </a:lnTo>
                <a:lnTo>
                  <a:pt x="3822697" y="2365372"/>
                </a:lnTo>
                <a:lnTo>
                  <a:pt x="0" y="236537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495675" y="1707118"/>
            <a:ext cx="5316083" cy="5478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3"/>
              </a:lnSpc>
            </a:pPr>
            <a:r>
              <a:rPr lang="en-US" sz="3002" spc="3">
                <a:solidFill>
                  <a:srgbClr val="F0F0F0"/>
                </a:solidFill>
                <a:latin typeface="20db"/>
                <a:ea typeface="20db"/>
                <a:cs typeface="20db"/>
                <a:sym typeface="20db"/>
              </a:rPr>
              <a:t>Actionable Insights Summary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40432" y="3526831"/>
            <a:ext cx="2372554" cy="3295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3"/>
              </a:lnSpc>
            </a:pPr>
            <a:r>
              <a:rPr lang="en-US" sz="1802" spc="1">
                <a:solidFill>
                  <a:srgbClr val="F0F0F0"/>
                </a:solidFill>
                <a:latin typeface="210 8비트"/>
                <a:ea typeface="210 8비트"/>
                <a:cs typeface="210 8비트"/>
                <a:sym typeface="210 8비트"/>
              </a:rPr>
              <a:t>The Value Proposition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013579" y="3526831"/>
            <a:ext cx="2217982" cy="3295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3"/>
              </a:lnSpc>
            </a:pPr>
            <a:r>
              <a:rPr lang="en-US" sz="1802">
                <a:solidFill>
                  <a:srgbClr val="F0F0F0"/>
                </a:solidFill>
                <a:latin typeface="210 8비트"/>
                <a:ea typeface="210 8비트"/>
                <a:cs typeface="210 8비트"/>
                <a:sym typeface="210 8비트"/>
              </a:rPr>
              <a:t>The Success Factors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155173" y="3526831"/>
            <a:ext cx="1927736" cy="3295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3"/>
              </a:lnSpc>
            </a:pPr>
            <a:r>
              <a:rPr lang="en-US" sz="1802">
                <a:solidFill>
                  <a:srgbClr val="F0F0F0"/>
                </a:solidFill>
                <a:latin typeface="210 8비트"/>
                <a:ea typeface="210 8비트"/>
                <a:cs typeface="210 8비트"/>
                <a:sym typeface="210 8비트"/>
              </a:rPr>
              <a:t>The Path Forward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E12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772650" y="1200150"/>
            <a:ext cx="2419350" cy="4305300"/>
          </a:xfrm>
          <a:custGeom>
            <a:avLst/>
            <a:gdLst/>
            <a:ahLst/>
            <a:cxnLst/>
            <a:rect r="r" b="b" t="t" l="l"/>
            <a:pathLst>
              <a:path h="4305300" w="2419350">
                <a:moveTo>
                  <a:pt x="0" y="0"/>
                </a:moveTo>
                <a:lnTo>
                  <a:pt x="2419350" y="0"/>
                </a:lnTo>
                <a:lnTo>
                  <a:pt x="2419350" y="4305300"/>
                </a:lnTo>
                <a:lnTo>
                  <a:pt x="0" y="4305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12192000" cy="6858000"/>
          </a:xfrm>
          <a:custGeom>
            <a:avLst/>
            <a:gdLst/>
            <a:ahLst/>
            <a:cxnLst/>
            <a:rect r="r" b="b" t="t" l="l"/>
            <a:pathLst>
              <a:path h="6858000" w="12192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-156" b="-972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11597" y="-152400"/>
            <a:ext cx="3506638" cy="26298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48"/>
              </a:lnSpc>
            </a:pPr>
            <a:r>
              <a:rPr lang="en-US" sz="8034">
                <a:solidFill>
                  <a:srgbClr val="FFFFFF"/>
                </a:solidFill>
                <a:latin typeface="210 8비트"/>
                <a:ea typeface="210 8비트"/>
                <a:cs typeface="210 8비트"/>
                <a:sym typeface="210 8비트"/>
              </a:rPr>
              <a:t>THANK</a:t>
            </a:r>
          </a:p>
          <a:p>
            <a:pPr algn="l">
              <a:lnSpc>
                <a:spcPts val="4018"/>
              </a:lnSpc>
            </a:pPr>
            <a:r>
              <a:rPr lang="en-US" sz="8037">
                <a:solidFill>
                  <a:srgbClr val="FFFFFF"/>
                </a:solidFill>
                <a:latin typeface="210 8비트"/>
                <a:ea typeface="210 8비트"/>
                <a:cs typeface="210 8비트"/>
                <a:sym typeface="210 8비트"/>
              </a:rPr>
              <a:t>YOU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40696" y="1628643"/>
            <a:ext cx="10310608" cy="2461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88"/>
              </a:lnSpc>
            </a:pPr>
            <a:r>
              <a:rPr lang="en-US" sz="3563">
                <a:solidFill>
                  <a:srgbClr val="FFFFFF"/>
                </a:solidFill>
                <a:latin typeface="210 8비트"/>
                <a:ea typeface="210 8비트"/>
                <a:cs typeface="210 8비트"/>
                <a:sym typeface="210 8비트"/>
              </a:rPr>
              <a:t>DONE BY </a:t>
            </a:r>
          </a:p>
          <a:p>
            <a:pPr algn="ctr">
              <a:lnSpc>
                <a:spcPts val="4988"/>
              </a:lnSpc>
            </a:pPr>
            <a:r>
              <a:rPr lang="en-US" sz="3563">
                <a:solidFill>
                  <a:srgbClr val="FFFFFF"/>
                </a:solidFill>
                <a:latin typeface="210 8비트"/>
                <a:ea typeface="210 8비트"/>
                <a:cs typeface="210 8비트"/>
                <a:sym typeface="210 8비트"/>
              </a:rPr>
              <a:t>KUNDOOR ANURAG REDDY (2403A54071)</a:t>
            </a:r>
          </a:p>
          <a:p>
            <a:pPr algn="ctr">
              <a:lnSpc>
                <a:spcPts val="4988"/>
              </a:lnSpc>
            </a:pPr>
            <a:r>
              <a:rPr lang="en-US" sz="3563">
                <a:solidFill>
                  <a:srgbClr val="FFFFFF"/>
                </a:solidFill>
                <a:latin typeface="210 8비트"/>
                <a:ea typeface="210 8비트"/>
                <a:cs typeface="210 8비트"/>
                <a:sym typeface="210 8비트"/>
              </a:rPr>
              <a:t>NAYINI KALYAN REDDY (2403A54074</a:t>
            </a:r>
          </a:p>
          <a:p>
            <a:pPr algn="ctr">
              <a:lnSpc>
                <a:spcPts val="4988"/>
              </a:lnSpc>
              <a:spcBef>
                <a:spcPct val="0"/>
              </a:spcBef>
            </a:pPr>
            <a:r>
              <a:rPr lang="en-US" sz="3563">
                <a:solidFill>
                  <a:srgbClr val="FFFFFF"/>
                </a:solidFill>
                <a:latin typeface="210 8비트"/>
                <a:ea typeface="210 8비트"/>
                <a:cs typeface="210 8비트"/>
                <a:sym typeface="210 8비트"/>
              </a:rPr>
              <a:t>PUSALA SATHWIK (2403A54075)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DAG5Ud4gRvw</dc:identifier>
  <dcterms:modified xsi:type="dcterms:W3CDTF">2011-08-01T06:04:30Z</dcterms:modified>
  <cp:revision>1</cp:revision>
  <dc:title>AI-Powered Stroke Risk Forecast (1).pdf</dc:title>
</cp:coreProperties>
</file>